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1" r:id="rId2"/>
    <p:sldId id="290" r:id="rId3"/>
    <p:sldId id="297" r:id="rId4"/>
    <p:sldId id="289" r:id="rId5"/>
    <p:sldId id="317" r:id="rId6"/>
    <p:sldId id="298" r:id="rId7"/>
    <p:sldId id="291" r:id="rId8"/>
    <p:sldId id="296" r:id="rId9"/>
    <p:sldId id="295" r:id="rId10"/>
    <p:sldId id="294" r:id="rId11"/>
    <p:sldId id="299" r:id="rId12"/>
    <p:sldId id="300" r:id="rId13"/>
    <p:sldId id="301" r:id="rId14"/>
    <p:sldId id="32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8" r:id="rId30"/>
    <p:sldId id="321" r:id="rId31"/>
    <p:sldId id="320" r:id="rId32"/>
    <p:sldId id="319" r:id="rId33"/>
    <p:sldId id="323" r:id="rId34"/>
  </p:sldIdLst>
  <p:sldSz cx="12192000" cy="6858000"/>
  <p:notesSz cx="6805613" cy="99441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94"/>
    <a:srgbClr val="99FF7D"/>
    <a:srgbClr val="8FFF71"/>
    <a:srgbClr val="FF5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CA294-B831-42CB-AC1E-2A97EAFED805}" type="datetimeFigureOut">
              <a:rPr lang="ru-RU" smtClean="0"/>
              <a:t>13.03.2023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16BCE-8123-487E-AE4E-AD0F0CDFA0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705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7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932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468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382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128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798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726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001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948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209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066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500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223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917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38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038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384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249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000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232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189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076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008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4904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866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516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4427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2411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0945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2566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1512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6BCE-8123-487E-AE4E-AD0F0CDFA03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47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FE54-E218-4C8C-A656-71E2081F71C2}" type="datetime1">
              <a:rPr lang="ru-RU" smtClean="0"/>
              <a:t>13.03.2023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26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B8D5F-7D75-4970-92D9-38A6096BF0F2}" type="datetime1">
              <a:rPr lang="ru-RU" smtClean="0"/>
              <a:t>13.03.2023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29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67BBE-510F-4F94-A15B-872CBF5C4426}" type="datetime1">
              <a:rPr lang="ru-RU" smtClean="0"/>
              <a:t>13.03.2023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54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0F507-7E46-4DEF-8429-9D1B5F7A7F0B}" type="datetime1">
              <a:rPr lang="ru-RU" smtClean="0"/>
              <a:t>13.03.2023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36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971-48EA-45C7-9816-6093DA47F702}" type="datetime1">
              <a:rPr lang="ru-RU" smtClean="0"/>
              <a:t>13.03.2023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9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5E8B3-1574-4679-A07C-72E4F1B6A86F}" type="datetime1">
              <a:rPr lang="ru-RU" smtClean="0"/>
              <a:t>13.03.2023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5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1D1-9BCE-4E3E-8ED5-714FE484316A}" type="datetime1">
              <a:rPr lang="ru-RU" smtClean="0"/>
              <a:t>13.03.2023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47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F69C-38CD-40D7-904C-DB1B97FFEB35}" type="datetime1">
              <a:rPr lang="ru-RU" smtClean="0"/>
              <a:t>13.03.2023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5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BD161-267D-4A9E-B389-2796379220DF}" type="datetime1">
              <a:rPr lang="ru-RU" smtClean="0"/>
              <a:t>13.03.2023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961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CB9EB-AF03-47D3-BBAC-DACD8BD7D6F4}" type="datetime1">
              <a:rPr lang="ru-RU" smtClean="0"/>
              <a:t>13.03.2023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83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44449-5B9E-4BDB-A425-2D082491C27B}" type="datetime1">
              <a:rPr lang="ru-RU" smtClean="0"/>
              <a:t>13.03.2023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7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39316-B059-4BA7-AAC4-CF97E234EB87}" type="datetime1">
              <a:rPr lang="ru-RU" smtClean="0"/>
              <a:t>13.03.2023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414B5-42A1-443B-895D-306D10F83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2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9" y="2844728"/>
            <a:ext cx="9144000" cy="1150071"/>
          </a:xfrm>
        </p:spPr>
        <p:txBody>
          <a:bodyPr>
            <a:normAutofit fontScale="92500" lnSpcReduction="10000"/>
          </a:bodyPr>
          <a:lstStyle/>
          <a:p>
            <a:r>
              <a:rPr lang="ru-RU" sz="4000" dirty="0"/>
              <a:t>ИТ-инфраструктура предприятия </a:t>
            </a:r>
          </a:p>
          <a:p>
            <a:r>
              <a:rPr lang="ru-RU" sz="4000" dirty="0"/>
              <a:t>нефтегазового комплекса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/>
          <a:srcRect l="1910" r="3592" b="2557"/>
          <a:stretch/>
        </p:blipFill>
        <p:spPr>
          <a:xfrm>
            <a:off x="4812277" y="229230"/>
            <a:ext cx="2567445" cy="1410053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4830355" y="6541280"/>
            <a:ext cx="2540131" cy="322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2023 г.</a:t>
            </a:r>
          </a:p>
        </p:txBody>
      </p:sp>
    </p:spTree>
    <p:extLst>
      <p:ext uri="{BB962C8B-B14F-4D97-AF65-F5344CB8AC3E}">
        <p14:creationId xmlns:p14="http://schemas.microsoft.com/office/powerpoint/2010/main" val="330185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474261"/>
            <a:ext cx="1219199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058988" lvl="1" indent="-2058988" algn="just" eaLnBrk="1" hangingPunct="1">
              <a:spcBef>
                <a:spcPct val="0"/>
              </a:spcBef>
              <a:buNone/>
            </a:pPr>
            <a:r>
              <a:rPr lang="ru-RU" altLang="ru-RU" sz="2400" b="1" u="sng">
                <a:solidFill>
                  <a:srgbClr val="000000"/>
                </a:solidFill>
              </a:rPr>
              <a:t>Цель</a:t>
            </a:r>
            <a:r>
              <a:rPr lang="ru-RU" altLang="ru-RU" sz="2400" b="1">
                <a:solidFill>
                  <a:srgbClr val="000000"/>
                </a:solidFill>
              </a:rPr>
              <a:t>      </a:t>
            </a:r>
            <a:r>
              <a:rPr lang="ru-RU" altLang="ru-RU" sz="2400">
                <a:solidFill>
                  <a:srgbClr val="000000"/>
                </a:solidFill>
              </a:rPr>
              <a:t>– </a:t>
            </a:r>
            <a:r>
              <a:rPr lang="ru-RU" altLang="ru-RU" sz="2400" dirty="0">
                <a:solidFill>
                  <a:srgbClr val="000000"/>
                </a:solidFill>
              </a:rPr>
              <a:t>	популяризация среди студентов ИТ-направлений СурГУ деятельности производственного направления «СургутАСУнефть» ПАО «Сургутнефтегаз»</a:t>
            </a:r>
          </a:p>
          <a:p>
            <a:pPr marL="0" lvl="1" indent="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dirty="0">
                <a:solidFill>
                  <a:srgbClr val="000000"/>
                </a:solidFill>
              </a:rPr>
              <a:t>Задачи семинара: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Сформировать понимания у студентов о деятельности производственного направления «СургутАСУнефть» ПАО «Сургутнефтегаз»;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Дать четкое понимание студентам о потребностях рынка труда; 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Провести четкие параллели между программой обучения </a:t>
            </a:r>
            <a:r>
              <a:rPr lang="ru-RU" altLang="ru-RU" sz="2400" dirty="0" err="1">
                <a:solidFill>
                  <a:srgbClr val="000000"/>
                </a:solidFill>
              </a:rPr>
              <a:t>СурГУ</a:t>
            </a:r>
            <a:r>
              <a:rPr lang="ru-RU" altLang="ru-RU" sz="2400" dirty="0">
                <a:solidFill>
                  <a:srgbClr val="000000"/>
                </a:solidFill>
              </a:rPr>
              <a:t> и производственными обязанностями на предприятии;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Четко обозначить требуемые навыки с точки зрения работодателя.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мероприятия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2AB35B-6ED8-410D-88D3-10AB0C6E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80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2028259"/>
            <a:ext cx="12191999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u="sng" dirty="0">
                <a:solidFill>
                  <a:srgbClr val="000000"/>
                </a:solidFill>
              </a:rPr>
              <a:t>ИТ-инфраструктура</a:t>
            </a:r>
            <a:r>
              <a:rPr lang="ru-RU" altLang="ru-RU" sz="2400" dirty="0">
                <a:solidFill>
                  <a:srgbClr val="000000"/>
                </a:solidFill>
              </a:rPr>
              <a:t>   – 	объединение компонентов, необходимых для работы корпоративных ИТ-сервисов и ИТ-сред, а также компонент по их управлению, диагностике, защите и т.д.</a:t>
            </a:r>
          </a:p>
          <a:p>
            <a:pPr marL="0" lvl="1" indent="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dirty="0">
                <a:solidFill>
                  <a:srgbClr val="000000"/>
                </a:solidFill>
              </a:rPr>
              <a:t>В состав ИТ-инфраструктуры входят компоненты различного класса: </a:t>
            </a:r>
          </a:p>
          <a:p>
            <a:pPr marL="3676650" lvl="1" indent="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от серверов и средств хранения данных, систем АСУТП, до корпоративных информационных систем и специализированного программного обеспечения.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ИТ-инфраструктура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A81515-D7DB-4F1A-8927-06860DAF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1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ИТ-инфраструктуры предприятия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Равнобедренный треугольник 8">
            <a:extLst>
              <a:ext uri="{FF2B5EF4-FFF2-40B4-BE49-F238E27FC236}">
                <a16:creationId xmlns:a16="http://schemas.microsoft.com/office/drawing/2014/main" id="{E071701D-3FAE-484C-BC4D-F95B93535E9C}"/>
              </a:ext>
            </a:extLst>
          </p:cNvPr>
          <p:cNvSpPr/>
          <p:nvPr/>
        </p:nvSpPr>
        <p:spPr>
          <a:xfrm>
            <a:off x="276300" y="1066943"/>
            <a:ext cx="4550660" cy="355649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Средства телеобработки</a:t>
            </a:r>
          </a:p>
        </p:txBody>
      </p:sp>
      <p:sp>
        <p:nvSpPr>
          <p:cNvPr id="10" name="Равнобедренный треугольник 9">
            <a:extLst>
              <a:ext uri="{FF2B5EF4-FFF2-40B4-BE49-F238E27FC236}">
                <a16:creationId xmlns:a16="http://schemas.microsoft.com/office/drawing/2014/main" id="{F4B87735-9E03-45BA-ACBD-BC24F42AF4C6}"/>
              </a:ext>
            </a:extLst>
          </p:cNvPr>
          <p:cNvSpPr/>
          <p:nvPr/>
        </p:nvSpPr>
        <p:spPr>
          <a:xfrm>
            <a:off x="1031339" y="1063489"/>
            <a:ext cx="3036498" cy="2378843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Специализиро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-ванные системы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9095A3F0-85A0-4EA2-95CF-1D72E84FEB46}"/>
              </a:ext>
            </a:extLst>
          </p:cNvPr>
          <p:cNvSpPr/>
          <p:nvPr/>
        </p:nvSpPr>
        <p:spPr>
          <a:xfrm>
            <a:off x="1793876" y="1063489"/>
            <a:ext cx="1514475" cy="119584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ИБ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57FFBF78-C9C5-4725-B667-5FFC31E25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391962"/>
              </p:ext>
            </p:extLst>
          </p:nvPr>
        </p:nvGraphicFramePr>
        <p:xfrm>
          <a:off x="2715843" y="988880"/>
          <a:ext cx="9254486" cy="3894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4486">
                  <a:extLst>
                    <a:ext uri="{9D8B030D-6E8A-4147-A177-3AD203B41FA5}">
                      <a16:colId xmlns:a16="http://schemas.microsoft.com/office/drawing/2014/main" val="3915609284"/>
                    </a:ext>
                  </a:extLst>
                </a:gridCol>
              </a:tblGrid>
              <a:tr h="1181925">
                <a:tc>
                  <a:txBody>
                    <a:bodyPr/>
                    <a:lstStyle/>
                    <a:p>
                      <a:pPr marL="2243138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Информационная Безопасность </a:t>
                      </a:r>
                      <a:r>
                        <a:rPr kumimoji="0" lang="ru-RU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важный компонент ИТ-инфраструктуры любого крупного предприятия. </a:t>
                      </a:r>
                    </a:p>
                    <a:p>
                      <a:pPr marL="2243138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ИБ всегда представляет собой комплекс средств и мер и обеспечивается на любом уровне ИТ-инфраструктуры.</a:t>
                      </a:r>
                    </a:p>
                    <a:p>
                      <a:pPr marL="2243138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ИБ не заканчивается на уровне специализированных отделов предприятия, каждый работник обязан соблюдать меры по обеспечению кибербезопасности.</a:t>
                      </a:r>
                      <a:endParaRPr lang="ru-RU" sz="13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05514"/>
                  </a:ext>
                </a:extLst>
              </a:tr>
              <a:tr h="1185366">
                <a:tc>
                  <a:txBody>
                    <a:bodyPr/>
                    <a:lstStyle/>
                    <a:p>
                      <a:pPr marL="2243138" indent="0" algn="just"/>
                      <a:r>
                        <a:rPr lang="ru-RU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Различные </a:t>
                      </a:r>
                      <a:r>
                        <a:rPr lang="ru-RU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информационные системы</a:t>
                      </a:r>
                      <a:r>
                        <a:rPr lang="ru-RU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обеспечивающие деятельность предприятия.</a:t>
                      </a:r>
                    </a:p>
                    <a:p>
                      <a:pPr marL="2243138" indent="0" algn="just"/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Могут быть как полностью закупленными сопровождаемыми сторонними решениями, так и решениями полностью собственной разработки.</a:t>
                      </a:r>
                    </a:p>
                    <a:p>
                      <a:pPr marL="2243138" indent="0" algn="just"/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таких систем в крупном предприятии как правило исчисляется 1000.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544062"/>
                  </a:ext>
                </a:extLst>
              </a:tr>
              <a:tr h="1429375">
                <a:tc>
                  <a:txBody>
                    <a:bodyPr/>
                    <a:lstStyle/>
                    <a:p>
                      <a:pPr marL="2243138" indent="0" algn="just"/>
                      <a:r>
                        <a:rPr lang="ru-RU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Различное </a:t>
                      </a:r>
                      <a:r>
                        <a:rPr lang="ru-RU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оборудование, инженерные системы </a:t>
                      </a:r>
                      <a:r>
                        <a:rPr lang="ru-RU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обеспечивающее деятельность предприятия.</a:t>
                      </a:r>
                      <a:endParaRPr lang="ru-RU" sz="13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3138" indent="0" algn="just"/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состав средств телеобработки входят ПЭВМ, серверы, системы хранения данных, контроллеры, центры обработки данных, инженерное обеспечение, копировально-множительная техника, средства виртуализации, сегментации сети, сетевые экраны и т.д.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07038"/>
                  </a:ext>
                </a:extLst>
              </a:tr>
            </a:tbl>
          </a:graphicData>
        </a:graphic>
      </p:graphicFrame>
      <p:sp>
        <p:nvSpPr>
          <p:cNvPr id="13" name="Rectangle 65">
            <a:extLst>
              <a:ext uri="{FF2B5EF4-FFF2-40B4-BE49-F238E27FC236}">
                <a16:creationId xmlns:a16="http://schemas.microsoft.com/office/drawing/2014/main" id="{29AFA4F1-7841-4FFF-B49E-3C097BC5E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5163075"/>
            <a:ext cx="1219199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616075" lvl="1" indent="-1616075" algn="just" eaLnBrk="1" hangingPunct="1">
              <a:spcBef>
                <a:spcPct val="0"/>
              </a:spcBef>
              <a:buNone/>
            </a:pPr>
            <a:r>
              <a:rPr lang="ru-RU" altLang="ru-RU" sz="2400" b="1" u="sng" dirty="0">
                <a:solidFill>
                  <a:srgbClr val="000000"/>
                </a:solidFill>
              </a:rPr>
              <a:t>Выводы</a:t>
            </a:r>
            <a:r>
              <a:rPr lang="ru-RU" altLang="ru-RU" sz="2400" dirty="0">
                <a:solidFill>
                  <a:srgbClr val="000000"/>
                </a:solidFill>
              </a:rPr>
              <a:t>:  для обеспечения работы предприятия требуются специалисты с разным профилем знаний, начиная от специалистов по обслуживанию СВТ и КМТ и заканчивая, разработчиками и бизнес-аналитиками, а также специалистами по информационной безопасности.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CEDCAB-1176-43DB-94DD-1FC4ACDB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16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ИТ-инфраструктуры предприятия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CEDCAB-1176-43DB-94DD-1FC4ACDB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5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DF93110-1079-4AD7-89AB-3ABAE9FAFEDA}"/>
              </a:ext>
            </a:extLst>
          </p:cNvPr>
          <p:cNvSpPr/>
          <p:nvPr/>
        </p:nvSpPr>
        <p:spPr>
          <a:xfrm>
            <a:off x="4831542" y="2736188"/>
            <a:ext cx="2535415" cy="1563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Единая</a:t>
            </a:r>
          </a:p>
          <a:p>
            <a:pPr algn="ctr"/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ИТ-инфраструктура</a:t>
            </a:r>
            <a:endParaRPr lang="ru-RU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E335AB0-6FFD-4BB6-B22A-665BB2FB6E10}"/>
              </a:ext>
            </a:extLst>
          </p:cNvPr>
          <p:cNvSpPr/>
          <p:nvPr/>
        </p:nvSpPr>
        <p:spPr>
          <a:xfrm>
            <a:off x="1078302" y="3272975"/>
            <a:ext cx="2381383" cy="5262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Операционные системы (офисные/серверные)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6E031AEC-3898-4390-9C65-A2BE8F7EE21C}"/>
              </a:ext>
            </a:extLst>
          </p:cNvPr>
          <p:cNvSpPr/>
          <p:nvPr/>
        </p:nvSpPr>
        <p:spPr>
          <a:xfrm>
            <a:off x="8645726" y="3278726"/>
            <a:ext cx="2253483" cy="5262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Серверное оборудование, СХД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86703C2-0968-4C93-8B99-F3D836CFE98C}"/>
              </a:ext>
            </a:extLst>
          </p:cNvPr>
          <p:cNvSpPr/>
          <p:nvPr/>
        </p:nvSpPr>
        <p:spPr>
          <a:xfrm>
            <a:off x="8039145" y="2417938"/>
            <a:ext cx="2593625" cy="64225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Сетевое оборудование, межсетевые экраны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697E78BE-E4C6-43C6-AF31-5A3A643E57E4}"/>
              </a:ext>
            </a:extLst>
          </p:cNvPr>
          <p:cNvSpPr/>
          <p:nvPr/>
        </p:nvSpPr>
        <p:spPr>
          <a:xfrm>
            <a:off x="6936626" y="1697621"/>
            <a:ext cx="3113147" cy="61782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СВТ офисного назначения (ПЭВМ, принтеры, КМТ, мониторы)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A5782123-E320-4431-A8C0-8BD721E580E1}"/>
              </a:ext>
            </a:extLst>
          </p:cNvPr>
          <p:cNvSpPr/>
          <p:nvPr/>
        </p:nvSpPr>
        <p:spPr>
          <a:xfrm>
            <a:off x="1595887" y="2417938"/>
            <a:ext cx="2579790" cy="63650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отображения на технологических объектах (</a:t>
            </a:r>
            <a:r>
              <a:rPr lang="ru-RU" sz="11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видеостены</a:t>
            </a:r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C3B517F-8FAB-495C-BB4A-8BB22D34C49A}"/>
              </a:ext>
            </a:extLst>
          </p:cNvPr>
          <p:cNvSpPr/>
          <p:nvPr/>
        </p:nvSpPr>
        <p:spPr>
          <a:xfrm>
            <a:off x="1509623" y="1697621"/>
            <a:ext cx="3752983" cy="61782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СВТ для технологических объектов (ПЭВМ и ноутбуки в защищенном исполнении, технологические ПЭВМ)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DDDE525-4CA5-47AB-88C4-2C48679454D3}"/>
              </a:ext>
            </a:extLst>
          </p:cNvPr>
          <p:cNvSpPr/>
          <p:nvPr/>
        </p:nvSpPr>
        <p:spPr>
          <a:xfrm>
            <a:off x="1302589" y="4017721"/>
            <a:ext cx="2873088" cy="67244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Офисное ПО (ОС ПЭВМ, MS </a:t>
            </a:r>
            <a:r>
              <a:rPr lang="ru-RU" sz="11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вспомогательные утилиты)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910E281D-F9CD-4417-B8D8-B3F281682991}"/>
              </a:ext>
            </a:extLst>
          </p:cNvPr>
          <p:cNvSpPr/>
          <p:nvPr/>
        </p:nvSpPr>
        <p:spPr>
          <a:xfrm>
            <a:off x="8039146" y="4023472"/>
            <a:ext cx="2355684" cy="66669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Специализированное ПО (проектирование, моделирование)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1E7569E-B673-4FD3-9C22-75880E9E2E15}"/>
              </a:ext>
            </a:extLst>
          </p:cNvPr>
          <p:cNvSpPr/>
          <p:nvPr/>
        </p:nvSpPr>
        <p:spPr>
          <a:xfrm>
            <a:off x="6878046" y="4869140"/>
            <a:ext cx="2593758" cy="72966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Телекоммуникационное и управляющее оборудование 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E864141-4A2F-443A-AB5E-67447AB6D947}"/>
              </a:ext>
            </a:extLst>
          </p:cNvPr>
          <p:cNvSpPr/>
          <p:nvPr/>
        </p:nvSpPr>
        <p:spPr>
          <a:xfrm>
            <a:off x="4968810" y="1263176"/>
            <a:ext cx="2236230" cy="64147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мониторинга и управления ИТ-инфраструктурой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DAD59D8-2429-463E-AA63-28DCB0EA2E34}"/>
              </a:ext>
            </a:extLst>
          </p:cNvPr>
          <p:cNvSpPr/>
          <p:nvPr/>
        </p:nvSpPr>
        <p:spPr>
          <a:xfrm>
            <a:off x="2881223" y="4909117"/>
            <a:ext cx="2533783" cy="6896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ВКС, коммуникации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8027CB59-B290-4387-A9C0-CFA231745A7A}"/>
              </a:ext>
            </a:extLst>
          </p:cNvPr>
          <p:cNvSpPr/>
          <p:nvPr/>
        </p:nvSpPr>
        <p:spPr>
          <a:xfrm>
            <a:off x="3985404" y="5416643"/>
            <a:ext cx="4235570" cy="63100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корпоративных систем (ERP, СЭД, AD, УЦ, почтовая система, собственная разработка)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8B2D765D-97C2-4169-9237-858074BA4D33}"/>
              </a:ext>
            </a:extLst>
          </p:cNvPr>
          <p:cNvCxnSpPr>
            <a:stCxn id="24" idx="4"/>
            <a:endCxn id="14" idx="0"/>
          </p:cNvCxnSpPr>
          <p:nvPr/>
        </p:nvCxnSpPr>
        <p:spPr>
          <a:xfrm>
            <a:off x="6086925" y="1904648"/>
            <a:ext cx="12325" cy="8315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5837878B-A26D-4574-AFB5-08464AE6FE10}"/>
              </a:ext>
            </a:extLst>
          </p:cNvPr>
          <p:cNvCxnSpPr>
            <a:stCxn id="20" idx="5"/>
          </p:cNvCxnSpPr>
          <p:nvPr/>
        </p:nvCxnSpPr>
        <p:spPr>
          <a:xfrm>
            <a:off x="4712994" y="2224966"/>
            <a:ext cx="524133" cy="5112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544A5FF-EE54-4F7D-AF28-DF37BDB6B683}"/>
              </a:ext>
            </a:extLst>
          </p:cNvPr>
          <p:cNvCxnSpPr>
            <a:stCxn id="18" idx="3"/>
          </p:cNvCxnSpPr>
          <p:nvPr/>
        </p:nvCxnSpPr>
        <p:spPr>
          <a:xfrm flipH="1">
            <a:off x="6878046" y="2224966"/>
            <a:ext cx="514490" cy="5112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A2CB1B97-FE50-4690-95CE-497633F15E11}"/>
              </a:ext>
            </a:extLst>
          </p:cNvPr>
          <p:cNvCxnSpPr>
            <a:stCxn id="19" idx="6"/>
          </p:cNvCxnSpPr>
          <p:nvPr/>
        </p:nvCxnSpPr>
        <p:spPr>
          <a:xfrm>
            <a:off x="4175677" y="2736189"/>
            <a:ext cx="652882" cy="4144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EDFA702E-D9AE-4E8D-B079-DA41019F6705}"/>
              </a:ext>
            </a:extLst>
          </p:cNvPr>
          <p:cNvCxnSpPr>
            <a:stCxn id="15" idx="6"/>
            <a:endCxn id="14" idx="1"/>
          </p:cNvCxnSpPr>
          <p:nvPr/>
        </p:nvCxnSpPr>
        <p:spPr>
          <a:xfrm flipV="1">
            <a:off x="3459685" y="3517860"/>
            <a:ext cx="1371857" cy="182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0E844BC2-99B1-4872-B4AA-6E6DCE5C797B}"/>
              </a:ext>
            </a:extLst>
          </p:cNvPr>
          <p:cNvCxnSpPr>
            <a:stCxn id="21" idx="6"/>
          </p:cNvCxnSpPr>
          <p:nvPr/>
        </p:nvCxnSpPr>
        <p:spPr>
          <a:xfrm flipV="1">
            <a:off x="4175677" y="3949122"/>
            <a:ext cx="652882" cy="4048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785C469F-E1ED-4A2A-8315-02C3B4DB7ED7}"/>
              </a:ext>
            </a:extLst>
          </p:cNvPr>
          <p:cNvCxnSpPr>
            <a:stCxn id="25" idx="7"/>
          </p:cNvCxnSpPr>
          <p:nvPr/>
        </p:nvCxnSpPr>
        <p:spPr>
          <a:xfrm flipV="1">
            <a:off x="5043942" y="4299531"/>
            <a:ext cx="218664" cy="7105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59240C30-6454-46EE-BFF8-F7973A534B6E}"/>
              </a:ext>
            </a:extLst>
          </p:cNvPr>
          <p:cNvCxnSpPr>
            <a:stCxn id="26" idx="0"/>
            <a:endCxn id="14" idx="2"/>
          </p:cNvCxnSpPr>
          <p:nvPr/>
        </p:nvCxnSpPr>
        <p:spPr>
          <a:xfrm flipH="1" flipV="1">
            <a:off x="6099250" y="4299531"/>
            <a:ext cx="3939" cy="11171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18550B05-755D-4A20-AD3E-7EE2D54845C7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6878046" y="4299531"/>
            <a:ext cx="379847" cy="6764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8D11D3F-166C-49FE-929F-8EBA8F197311}"/>
              </a:ext>
            </a:extLst>
          </p:cNvPr>
          <p:cNvCxnSpPr>
            <a:stCxn id="22" idx="2"/>
          </p:cNvCxnSpPr>
          <p:nvPr/>
        </p:nvCxnSpPr>
        <p:spPr>
          <a:xfrm flipH="1" flipV="1">
            <a:off x="7366958" y="3949121"/>
            <a:ext cx="672188" cy="4076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D70FD422-D680-467A-860E-0EB86EF051B9}"/>
              </a:ext>
            </a:extLst>
          </p:cNvPr>
          <p:cNvCxnSpPr>
            <a:endCxn id="17" idx="2"/>
          </p:cNvCxnSpPr>
          <p:nvPr/>
        </p:nvCxnSpPr>
        <p:spPr>
          <a:xfrm flipV="1">
            <a:off x="7366957" y="2739065"/>
            <a:ext cx="672188" cy="4115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DFB5BA0-1057-44BB-AABF-748A8C70A37B}"/>
              </a:ext>
            </a:extLst>
          </p:cNvPr>
          <p:cNvCxnSpPr>
            <a:stCxn id="14" idx="3"/>
            <a:endCxn id="16" idx="2"/>
          </p:cNvCxnSpPr>
          <p:nvPr/>
        </p:nvCxnSpPr>
        <p:spPr>
          <a:xfrm>
            <a:off x="7366957" y="3517860"/>
            <a:ext cx="1278769" cy="239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85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3259366"/>
            <a:ext cx="121919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ctr" eaLnBrk="1" hangingPunct="1">
              <a:spcBef>
                <a:spcPct val="0"/>
              </a:spcBef>
              <a:buNone/>
            </a:pPr>
            <a:r>
              <a:rPr lang="ru-RU" altLang="ru-RU" sz="3200" dirty="0">
                <a:solidFill>
                  <a:srgbClr val="000000"/>
                </a:solidFill>
              </a:rPr>
              <a:t>Средства телеобработки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65D651-9A4B-4D6B-B6AA-2365DFA6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51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Средства телеобработки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8B7E29-2E0D-4A16-8099-18C69BFD20A8}"/>
              </a:ext>
            </a:extLst>
          </p:cNvPr>
          <p:cNvSpPr txBox="1"/>
          <p:nvPr/>
        </p:nvSpPr>
        <p:spPr>
          <a:xfrm>
            <a:off x="0" y="78633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2574A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Офисное рабочее место</a:t>
            </a:r>
            <a:endParaRPr lang="ru-RU" b="1" i="1" dirty="0">
              <a:solidFill>
                <a:srgbClr val="2574A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125B48E9-2790-47EE-A0FB-9B9CB3057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05017"/>
              </p:ext>
            </p:extLst>
          </p:nvPr>
        </p:nvGraphicFramePr>
        <p:xfrm>
          <a:off x="2346386" y="1531583"/>
          <a:ext cx="9765103" cy="402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5103">
                  <a:extLst>
                    <a:ext uri="{9D8B030D-6E8A-4147-A177-3AD203B41FA5}">
                      <a16:colId xmlns:a16="http://schemas.microsoft.com/office/drawing/2014/main" val="3915609284"/>
                    </a:ext>
                  </a:extLst>
                </a:gridCol>
              </a:tblGrid>
              <a:tr h="1294742">
                <a:tc>
                  <a:txBody>
                    <a:bodyPr/>
                    <a:lstStyle/>
                    <a:p>
                      <a:pPr marL="2243138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Офисное, системное</a:t>
                      </a:r>
                      <a:r>
                        <a:rPr lang="ru-RU" sz="13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прикладное программное обеспечение </a:t>
                      </a:r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устанавливается на  рабочее место пользователя в достаточном количестве для обеспечения взаимодействия с используемыми информационными системами. Оно должно быть актуальных версий и иметь возможность получения критичных для информационной безопасности обновлений. 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05514"/>
                  </a:ext>
                </a:extLst>
              </a:tr>
              <a:tr h="1182254">
                <a:tc>
                  <a:txBody>
                    <a:bodyPr/>
                    <a:lstStyle/>
                    <a:p>
                      <a:pPr marL="2243138" indent="0" algn="just"/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Применяются </a:t>
                      </a:r>
                      <a:r>
                        <a:rPr lang="ru-RU" sz="13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операционные системы импортных и отечественных</a:t>
                      </a:r>
                      <a:r>
                        <a:rPr lang="ru-RU" sz="13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разработчиков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3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Используемая операционная система должна</a:t>
                      </a:r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быть на поддержке у производителя с обязательным выпуском обновлений по информационной безопасности.</a:t>
                      </a:r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243138" indent="0" algn="just"/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Применяются операционные</a:t>
                      </a:r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системы семейств 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</a:t>
                      </a:r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 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</a:t>
                      </a:r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544062"/>
                  </a:ext>
                </a:extLst>
              </a:tr>
              <a:tr h="1548176">
                <a:tc>
                  <a:txBody>
                    <a:bodyPr/>
                    <a:lstStyle/>
                    <a:p>
                      <a:pPr marL="2243138" indent="0" algn="just"/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Рабочее место пользователя оснащается </a:t>
                      </a:r>
                      <a:r>
                        <a:rPr lang="ru-RU" sz="13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импортной или отечественной ПЭВМ </a:t>
                      </a:r>
                      <a:r>
                        <a:rPr lang="ru-RU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ru-RU" sz="13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техническими характеристиками позволяющими взаимодействовать с информационными системами и использовать необходимое прикладное программное обеспечение </a:t>
                      </a:r>
                      <a:endParaRPr lang="ru-RU" sz="13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07038"/>
                  </a:ext>
                </a:extLst>
              </a:tr>
            </a:tbl>
          </a:graphicData>
        </a:graphic>
      </p:graphicFrame>
      <p:sp>
        <p:nvSpPr>
          <p:cNvPr id="16" name="Равнобедренный треугольник 15">
            <a:extLst>
              <a:ext uri="{FF2B5EF4-FFF2-40B4-BE49-F238E27FC236}">
                <a16:creationId xmlns:a16="http://schemas.microsoft.com/office/drawing/2014/main" id="{82E9EF16-57D1-4C59-989F-99A13D25AC2A}"/>
              </a:ext>
            </a:extLst>
          </p:cNvPr>
          <p:cNvSpPr/>
          <p:nvPr/>
        </p:nvSpPr>
        <p:spPr>
          <a:xfrm>
            <a:off x="73098" y="1621801"/>
            <a:ext cx="4550660" cy="355649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ПЭВМ, КМТ</a:t>
            </a:r>
          </a:p>
        </p:txBody>
      </p: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A9760496-DEF7-4A14-BCA2-B0EB71B77C74}"/>
              </a:ext>
            </a:extLst>
          </p:cNvPr>
          <p:cNvSpPr/>
          <p:nvPr/>
        </p:nvSpPr>
        <p:spPr>
          <a:xfrm>
            <a:off x="828137" y="1618347"/>
            <a:ext cx="3036498" cy="2378843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Операционные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</a:t>
            </a:r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3FB40DC9-4FE9-43AF-AFED-74C7DC114F93}"/>
              </a:ext>
            </a:extLst>
          </p:cNvPr>
          <p:cNvSpPr/>
          <p:nvPr/>
        </p:nvSpPr>
        <p:spPr>
          <a:xfrm>
            <a:off x="1590674" y="1618347"/>
            <a:ext cx="1514475" cy="119584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</a:p>
        </p:txBody>
      </p:sp>
      <p:sp>
        <p:nvSpPr>
          <p:cNvPr id="13" name="Rectangle 65">
            <a:extLst>
              <a:ext uri="{FF2B5EF4-FFF2-40B4-BE49-F238E27FC236}">
                <a16:creationId xmlns:a16="http://schemas.microsoft.com/office/drawing/2014/main" id="{2319B6BE-4740-421C-AE02-989DF497C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61" y="5169230"/>
            <a:ext cx="12195361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altLang="ru-RU" sz="1800" b="1" u="sng" dirty="0">
                <a:solidFill>
                  <a:srgbClr val="000000"/>
                </a:solidFill>
              </a:rPr>
              <a:t>Выводы</a:t>
            </a:r>
            <a:r>
              <a:rPr lang="ru-RU" altLang="ru-RU" sz="1800" dirty="0">
                <a:solidFill>
                  <a:srgbClr val="000000"/>
                </a:solidFill>
              </a:rPr>
              <a:t>:	Расширенные з</a:t>
            </a:r>
            <a:r>
              <a:rPr lang="ru-RU" sz="1600" dirty="0"/>
              <a:t>нания в области настройки ОС </a:t>
            </a:r>
            <a:r>
              <a:rPr lang="en-US" sz="1600" dirty="0"/>
              <a:t>Windows</a:t>
            </a:r>
            <a:r>
              <a:rPr lang="ru-RU" sz="1600" dirty="0"/>
              <a:t>, </a:t>
            </a:r>
            <a:r>
              <a:rPr lang="en-US" sz="1600" dirty="0"/>
              <a:t>Linux </a:t>
            </a:r>
            <a:r>
              <a:rPr lang="ru-RU" sz="1600" dirty="0"/>
              <a:t>для ПК и прикладных программ;</a:t>
            </a:r>
            <a:r>
              <a:rPr lang="en-US" sz="1600" dirty="0"/>
              <a:t> 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en-US" sz="1600" dirty="0"/>
              <a:t>	</a:t>
            </a:r>
            <a:r>
              <a:rPr lang="ru-RU" sz="1600" dirty="0"/>
              <a:t>Опыт работы с офисными приложениями; 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Знание аппаратной части ПЭВМ, умения в области диагностики и выявления неисправностей на компонентном уровне (материнская плата, блок питания, оперативная память и т.д.); 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Умение работы с </a:t>
            </a:r>
            <a:r>
              <a:rPr lang="en-US" sz="1600" dirty="0"/>
              <a:t>CMD </a:t>
            </a:r>
            <a:r>
              <a:rPr lang="ru-RU" sz="1600" dirty="0"/>
              <a:t>и </a:t>
            </a:r>
            <a:r>
              <a:rPr lang="en-US" sz="1600" dirty="0"/>
              <a:t>PowerShell </a:t>
            </a:r>
            <a:r>
              <a:rPr lang="ru-RU" sz="1600" dirty="0"/>
              <a:t>в ОС семейства </a:t>
            </a:r>
            <a:r>
              <a:rPr lang="en-US" sz="1600" dirty="0"/>
              <a:t>Windows</a:t>
            </a:r>
            <a:r>
              <a:rPr lang="ru-RU" sz="1600" dirty="0"/>
              <a:t>, а также с терминалом команд в ОС </a:t>
            </a:r>
            <a:r>
              <a:rPr lang="en-US" sz="1600" dirty="0"/>
              <a:t>Linux.</a:t>
            </a:r>
            <a:endParaRPr lang="ru-RU" sz="1600" dirty="0"/>
          </a:p>
          <a:p>
            <a:pPr marL="1616075" lvl="1" indent="-1616075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B630DF8-E466-4190-AB21-B699E634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36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Средства телеобработки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9F94F-41BB-4EB3-B7FD-93CBBE76BC50}"/>
              </a:ext>
            </a:extLst>
          </p:cNvPr>
          <p:cNvSpPr txBox="1"/>
          <p:nvPr/>
        </p:nvSpPr>
        <p:spPr>
          <a:xfrm>
            <a:off x="-3361" y="79599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2574A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Серверное оборудование</a:t>
            </a:r>
            <a:endParaRPr lang="ru-RU" b="1" i="1" dirty="0">
              <a:solidFill>
                <a:srgbClr val="2574A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47D12159-43F5-4750-A5A7-57C82BBFF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460722"/>
              </p:ext>
            </p:extLst>
          </p:nvPr>
        </p:nvGraphicFramePr>
        <p:xfrm>
          <a:off x="2578813" y="1263122"/>
          <a:ext cx="9541300" cy="400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300">
                  <a:extLst>
                    <a:ext uri="{9D8B030D-6E8A-4147-A177-3AD203B41FA5}">
                      <a16:colId xmlns:a16="http://schemas.microsoft.com/office/drawing/2014/main" val="3915609284"/>
                    </a:ext>
                  </a:extLst>
                </a:gridCol>
              </a:tblGrid>
              <a:tr h="801898">
                <a:tc>
                  <a:txBody>
                    <a:bodyPr/>
                    <a:lstStyle/>
                    <a:p>
                      <a:pPr marL="1706563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Специализированное программное </a:t>
                      </a:r>
                      <a:r>
                        <a:rPr lang="ru-RU" sz="1100" b="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обеспечение предназначенное для работы прикладных сервисов, которые являются компонентами информационных систем. </a:t>
                      </a:r>
                    </a:p>
                    <a:p>
                      <a:pPr marL="1706563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Выполняет различные роли в операционной системе (</a:t>
                      </a:r>
                      <a:r>
                        <a:rPr lang="en-US" sz="1100" b="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web-</a:t>
                      </a:r>
                      <a:r>
                        <a:rPr lang="ru-RU" sz="1100" b="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сервисы, файловые сервисы</a:t>
                      </a:r>
                      <a:r>
                        <a:rPr lang="ru-RU" sz="1100" b="0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и </a:t>
                      </a:r>
                      <a:r>
                        <a:rPr lang="ru-RU" sz="1100" b="0" kern="1200" baseline="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т.д</a:t>
                      </a:r>
                      <a:r>
                        <a:rPr lang="ru-RU" sz="1100" b="0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). </a:t>
                      </a:r>
                      <a:endParaRPr lang="en-US" sz="1100" b="0" kern="1200" baseline="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06563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u="sng" kern="1200" baseline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Отдельный класс: Программное обеспечения в области информационной безопасности.</a:t>
                      </a:r>
                      <a:endParaRPr lang="ru-RU" sz="1100" b="0" u="sng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05514"/>
                  </a:ext>
                </a:extLst>
              </a:tr>
              <a:tr h="1006793">
                <a:tc>
                  <a:txBody>
                    <a:bodyPr/>
                    <a:lstStyle/>
                    <a:p>
                      <a:pPr marL="1706563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2775" algn="l"/>
                        </a:tabLst>
                        <a:defRPr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Применяются 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операционные системы импортных и отечественных</a:t>
                      </a:r>
                      <a:r>
                        <a:rPr lang="ru-RU" sz="11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производителей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Рекомендовано использование операционной системы </a:t>
                      </a:r>
                      <a:r>
                        <a:rPr lang="ru-RU" sz="11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актуальной версии и на поддержке у производителя с обязательным выпуском обновлений по информационной безопасности.</a:t>
                      </a:r>
                      <a:r>
                        <a:rPr lang="ru-RU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 исключительных</a:t>
                      </a:r>
                      <a:r>
                        <a:rPr lang="ru-RU" sz="11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случаях допускается использование устаревших версий ОС (снятых с поддержки производителем) при наличии требований к работе прикладного программного обеспечения</a:t>
                      </a:r>
                      <a:endParaRPr lang="ru-RU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544062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marL="1704975" indent="0" algn="just"/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Применяется </a:t>
                      </a:r>
                      <a:r>
                        <a:rPr lang="ru-RU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виртуализация импортных и отечественных</a:t>
                      </a:r>
                      <a:r>
                        <a:rPr lang="ru-RU" sz="11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производителей</a:t>
                      </a:r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1704975" indent="0" algn="just"/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Доля отечественных постоянно увеличивается. </a:t>
                      </a:r>
                    </a:p>
                    <a:p>
                      <a:pPr marL="1704975" indent="0" algn="just"/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Используется для рационального распределения вычислительных ресурсов предприятия.</a:t>
                      </a:r>
                    </a:p>
                    <a:p>
                      <a:pPr marL="1704975" indent="0" algn="just"/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Гипервизор бывает разных типов</a:t>
                      </a:r>
                    </a:p>
                    <a:p>
                      <a:pPr marL="1704975" indent="0" algn="just"/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Тип 1 – запускается непосредственно на оборудовании физического сервера.</a:t>
                      </a:r>
                    </a:p>
                    <a:p>
                      <a:pPr marL="1704975" indent="0" algn="just"/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Тип 2 – запускается поверх операционной системы физического сервера.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07038"/>
                  </a:ext>
                </a:extLst>
              </a:tr>
              <a:tr h="1017194">
                <a:tc>
                  <a:txBody>
                    <a:bodyPr/>
                    <a:lstStyle/>
                    <a:p>
                      <a:pPr marL="1704975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Аппаратное обеспечение </a:t>
                      </a:r>
                      <a:r>
                        <a:rPr lang="ru-RU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импортного или отечественного производства</a:t>
                      </a:r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как правило с дублированием компонентов обеспечивающих надежность работы. </a:t>
                      </a:r>
                    </a:p>
                    <a:p>
                      <a:pPr marL="1704975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Предназначен для установки в специализированных помещения с определенными параметрами температуры</a:t>
                      </a:r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и влажности. Оборудование в 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rack</a:t>
                      </a:r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исполнении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размещается в серверных шкафах. Оборудование должно быть обеспечено возможностью удаленного мониторинга состояния компонентов и предназначено для работы в круглосуточном режиме.</a:t>
                      </a:r>
                      <a:endParaRPr lang="ru-RU" sz="11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836661"/>
                  </a:ext>
                </a:extLst>
              </a:tr>
            </a:tbl>
          </a:graphicData>
        </a:graphic>
      </p:graphicFrame>
      <p:sp>
        <p:nvSpPr>
          <p:cNvPr id="20" name="Равнобедренный треугольник 19">
            <a:extLst>
              <a:ext uri="{FF2B5EF4-FFF2-40B4-BE49-F238E27FC236}">
                <a16:creationId xmlns:a16="http://schemas.microsoft.com/office/drawing/2014/main" id="{C75FF3AE-8379-425A-AF4B-917EF31951D3}"/>
              </a:ext>
            </a:extLst>
          </p:cNvPr>
          <p:cNvSpPr/>
          <p:nvPr/>
        </p:nvSpPr>
        <p:spPr>
          <a:xfrm>
            <a:off x="0" y="1259669"/>
            <a:ext cx="4345969" cy="4023963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</a:p>
        </p:txBody>
      </p:sp>
      <p:sp>
        <p:nvSpPr>
          <p:cNvPr id="21" name="Равнобедренный треугольник 20">
            <a:extLst>
              <a:ext uri="{FF2B5EF4-FFF2-40B4-BE49-F238E27FC236}">
                <a16:creationId xmlns:a16="http://schemas.microsoft.com/office/drawing/2014/main" id="{038DB4F6-3E4A-4C8E-822B-04654D5A13B2}"/>
              </a:ext>
            </a:extLst>
          </p:cNvPr>
          <p:cNvSpPr/>
          <p:nvPr/>
        </p:nvSpPr>
        <p:spPr>
          <a:xfrm>
            <a:off x="599481" y="1279963"/>
            <a:ext cx="3147006" cy="2887642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Виртуализация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D0D3F0B6-4E40-4707-9511-87602A41D919}"/>
              </a:ext>
            </a:extLst>
          </p:cNvPr>
          <p:cNvSpPr/>
          <p:nvPr/>
        </p:nvSpPr>
        <p:spPr>
          <a:xfrm>
            <a:off x="1200859" y="1256216"/>
            <a:ext cx="1944250" cy="1811675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Равнобедренный треугольник 22">
            <a:extLst>
              <a:ext uri="{FF2B5EF4-FFF2-40B4-BE49-F238E27FC236}">
                <a16:creationId xmlns:a16="http://schemas.microsoft.com/office/drawing/2014/main" id="{81CA2900-49AA-4BC3-A892-A89E33159121}"/>
              </a:ext>
            </a:extLst>
          </p:cNvPr>
          <p:cNvSpPr/>
          <p:nvPr/>
        </p:nvSpPr>
        <p:spPr>
          <a:xfrm>
            <a:off x="1728439" y="1259669"/>
            <a:ext cx="888556" cy="80963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86174CA-D156-4C73-807F-C35047354DCC}"/>
              </a:ext>
            </a:extLst>
          </p:cNvPr>
          <p:cNvSpPr/>
          <p:nvPr/>
        </p:nvSpPr>
        <p:spPr>
          <a:xfrm>
            <a:off x="1468125" y="2460573"/>
            <a:ext cx="14499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Операционные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</a:t>
            </a:r>
          </a:p>
        </p:txBody>
      </p:sp>
      <p:sp>
        <p:nvSpPr>
          <p:cNvPr id="17" name="Rectangle 65">
            <a:extLst>
              <a:ext uri="{FF2B5EF4-FFF2-40B4-BE49-F238E27FC236}">
                <a16:creationId xmlns:a16="http://schemas.microsoft.com/office/drawing/2014/main" id="{9D15027C-FBDA-4022-8DD4-5770BE82F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61" y="5212070"/>
            <a:ext cx="12195361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altLang="ru-RU" sz="1800" b="1" u="sng" dirty="0">
                <a:solidFill>
                  <a:srgbClr val="000000"/>
                </a:solidFill>
              </a:rPr>
              <a:t>Выводы</a:t>
            </a:r>
            <a:r>
              <a:rPr lang="ru-RU" altLang="ru-RU" sz="1800" dirty="0">
                <a:solidFill>
                  <a:srgbClr val="000000"/>
                </a:solidFill>
              </a:rPr>
              <a:t>:</a:t>
            </a:r>
            <a:r>
              <a:rPr lang="ru-RU" altLang="ru-RU" sz="1400" dirty="0">
                <a:solidFill>
                  <a:srgbClr val="000000"/>
                </a:solidFill>
              </a:rPr>
              <a:t>	</a:t>
            </a:r>
            <a:r>
              <a:rPr lang="ru-RU" altLang="ru-RU" sz="1600" dirty="0">
                <a:solidFill>
                  <a:srgbClr val="000000"/>
                </a:solidFill>
              </a:rPr>
              <a:t>Расширенные знания в области настройки серверных ОС </a:t>
            </a:r>
            <a:r>
              <a:rPr lang="ru-RU" altLang="ru-RU" sz="1600" dirty="0" err="1">
                <a:solidFill>
                  <a:srgbClr val="000000"/>
                </a:solidFill>
              </a:rPr>
              <a:t>Windows</a:t>
            </a:r>
            <a:r>
              <a:rPr lang="ru-RU" altLang="ru-RU" sz="1600" dirty="0">
                <a:solidFill>
                  <a:srgbClr val="000000"/>
                </a:solidFill>
              </a:rPr>
              <a:t>, </a:t>
            </a:r>
            <a:r>
              <a:rPr lang="ru-RU" altLang="ru-RU" sz="1600" dirty="0" err="1">
                <a:solidFill>
                  <a:srgbClr val="000000"/>
                </a:solidFill>
              </a:rPr>
              <a:t>Linux</a:t>
            </a:r>
            <a:r>
              <a:rPr lang="ru-RU" sz="1600" dirty="0"/>
              <a:t>;</a:t>
            </a:r>
            <a:r>
              <a:rPr lang="en-US" sz="1600" dirty="0"/>
              <a:t> </a:t>
            </a:r>
            <a:endParaRPr lang="ru-RU" sz="1600" dirty="0"/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Знания серверной архитектуры и сетевой инфраструктуры;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en-US" sz="1600" dirty="0"/>
              <a:t>	</a:t>
            </a:r>
            <a:r>
              <a:rPr lang="ru-RU" sz="1600" dirty="0"/>
              <a:t>Знание аппаратной части, умения в области диагностики и выявления неисправностей на компонентном уровне (материнская плата, блок питания, оперативная память и т.д.); 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Умение работы с </a:t>
            </a:r>
            <a:r>
              <a:rPr lang="en-US" sz="1600" dirty="0"/>
              <a:t>CMD </a:t>
            </a:r>
            <a:r>
              <a:rPr lang="ru-RU" sz="1600" dirty="0"/>
              <a:t>и </a:t>
            </a:r>
            <a:r>
              <a:rPr lang="en-US" sz="1600" dirty="0"/>
              <a:t>PowerShell </a:t>
            </a:r>
            <a:r>
              <a:rPr lang="ru-RU" sz="1600" dirty="0"/>
              <a:t>в ОС семейства </a:t>
            </a:r>
            <a:r>
              <a:rPr lang="en-US" sz="1600" dirty="0"/>
              <a:t>Windows</a:t>
            </a:r>
            <a:r>
              <a:rPr lang="ru-RU" sz="1600" dirty="0"/>
              <a:t>, а также с терминалом команд в ОС </a:t>
            </a:r>
            <a:r>
              <a:rPr lang="en-US" sz="1600" dirty="0"/>
              <a:t>Linux</a:t>
            </a:r>
            <a:r>
              <a:rPr lang="ru-RU" sz="1600" dirty="0"/>
              <a:t>;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Навыки в части виртуализации и резервного копирования.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7D86B7C-9BFB-4EF4-8406-F0A4721D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32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Виртуализация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9F94F-41BB-4EB3-B7FD-93CBBE76BC50}"/>
              </a:ext>
            </a:extLst>
          </p:cNvPr>
          <p:cNvSpPr txBox="1"/>
          <p:nvPr/>
        </p:nvSpPr>
        <p:spPr>
          <a:xfrm>
            <a:off x="-3361" y="79599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2574A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Архитектурные различия между гипервизорами типов 1 и 2</a:t>
            </a:r>
            <a:endParaRPr lang="ru-RU" b="1" i="1" dirty="0">
              <a:solidFill>
                <a:srgbClr val="2574A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8858AD-204D-4FFC-8315-05DEDF3503DF}"/>
              </a:ext>
            </a:extLst>
          </p:cNvPr>
          <p:cNvSpPr/>
          <p:nvPr/>
        </p:nvSpPr>
        <p:spPr>
          <a:xfrm>
            <a:off x="575353" y="5287762"/>
            <a:ext cx="468501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Оборудование (ЦПУ, память, сеть….)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26C7C0-D257-4FFA-AF7C-5BD28FCB0F50}"/>
              </a:ext>
            </a:extLst>
          </p:cNvPr>
          <p:cNvSpPr/>
          <p:nvPr/>
        </p:nvSpPr>
        <p:spPr>
          <a:xfrm>
            <a:off x="6931631" y="5287762"/>
            <a:ext cx="468501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Оборудование (ЦПУ, память, сеть….)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3C2FB75-2897-4D03-9677-05D470F96FAB}"/>
              </a:ext>
            </a:extLst>
          </p:cNvPr>
          <p:cNvSpPr/>
          <p:nvPr/>
        </p:nvSpPr>
        <p:spPr>
          <a:xfrm>
            <a:off x="575353" y="4823712"/>
            <a:ext cx="4685016" cy="36933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Гипервизор типа 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8668372-B30B-42D7-8EFF-4814337C3E4F}"/>
              </a:ext>
            </a:extLst>
          </p:cNvPr>
          <p:cNvSpPr/>
          <p:nvPr/>
        </p:nvSpPr>
        <p:spPr>
          <a:xfrm>
            <a:off x="6931631" y="4448706"/>
            <a:ext cx="4685016" cy="744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Операционная система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Физического сервера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069197D-CDDE-4F7F-A010-26846AE75B04}"/>
              </a:ext>
            </a:extLst>
          </p:cNvPr>
          <p:cNvSpPr/>
          <p:nvPr/>
        </p:nvSpPr>
        <p:spPr>
          <a:xfrm>
            <a:off x="9440240" y="4020791"/>
            <a:ext cx="2176406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Гипервизор типа 2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6136B54-F9B6-40D1-A179-2EE141C61D3E}"/>
              </a:ext>
            </a:extLst>
          </p:cNvPr>
          <p:cNvSpPr/>
          <p:nvPr/>
        </p:nvSpPr>
        <p:spPr>
          <a:xfrm>
            <a:off x="3161018" y="3421335"/>
            <a:ext cx="1998325" cy="1204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Гостевая операционная система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B062126-9C05-4298-9D37-1217D973CE1B}"/>
              </a:ext>
            </a:extLst>
          </p:cNvPr>
          <p:cNvSpPr/>
          <p:nvPr/>
        </p:nvSpPr>
        <p:spPr>
          <a:xfrm>
            <a:off x="712340" y="3421336"/>
            <a:ext cx="1998325" cy="1204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Гостевая операционная система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228D2D6-C6E0-4EBD-9777-423D9EA5CF90}"/>
              </a:ext>
            </a:extLst>
          </p:cNvPr>
          <p:cNvSpPr/>
          <p:nvPr/>
        </p:nvSpPr>
        <p:spPr>
          <a:xfrm>
            <a:off x="3161017" y="2787232"/>
            <a:ext cx="1998325" cy="515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Приложения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6DEB6B5-3F5C-4613-823E-DC5408EBFEB0}"/>
              </a:ext>
            </a:extLst>
          </p:cNvPr>
          <p:cNvSpPr/>
          <p:nvPr/>
        </p:nvSpPr>
        <p:spPr>
          <a:xfrm>
            <a:off x="712339" y="2787232"/>
            <a:ext cx="1998325" cy="515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Приложения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239EEC-EBFE-4328-8B7A-388EB7F52A0B}"/>
              </a:ext>
            </a:extLst>
          </p:cNvPr>
          <p:cNvSpPr/>
          <p:nvPr/>
        </p:nvSpPr>
        <p:spPr>
          <a:xfrm>
            <a:off x="3051425" y="2345266"/>
            <a:ext cx="2208944" cy="238372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EA24563-7BDF-4F6A-ADA2-9233A755C5AE}"/>
              </a:ext>
            </a:extLst>
          </p:cNvPr>
          <p:cNvSpPr/>
          <p:nvPr/>
        </p:nvSpPr>
        <p:spPr>
          <a:xfrm>
            <a:off x="607029" y="2341007"/>
            <a:ext cx="2208944" cy="238372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A446D0D-21D2-4E75-A2E1-0E8FB003CF24}"/>
              </a:ext>
            </a:extLst>
          </p:cNvPr>
          <p:cNvSpPr/>
          <p:nvPr/>
        </p:nvSpPr>
        <p:spPr>
          <a:xfrm>
            <a:off x="9440240" y="1607770"/>
            <a:ext cx="2176406" cy="238372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D2B04F0-D3D2-4456-A1BF-5A6B5FF4705E}"/>
              </a:ext>
            </a:extLst>
          </p:cNvPr>
          <p:cNvSpPr/>
          <p:nvPr/>
        </p:nvSpPr>
        <p:spPr>
          <a:xfrm>
            <a:off x="6931631" y="3634939"/>
            <a:ext cx="2401584" cy="744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Приложения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C478850-A11A-4C64-B779-37D0D4EDD679}"/>
              </a:ext>
            </a:extLst>
          </p:cNvPr>
          <p:cNvSpPr/>
          <p:nvPr/>
        </p:nvSpPr>
        <p:spPr>
          <a:xfrm>
            <a:off x="9543834" y="2688810"/>
            <a:ext cx="1998325" cy="1204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Гостевая операционная система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3EA5A19-DE5A-417E-94CF-F0321C775A71}"/>
              </a:ext>
            </a:extLst>
          </p:cNvPr>
          <p:cNvSpPr/>
          <p:nvPr/>
        </p:nvSpPr>
        <p:spPr>
          <a:xfrm>
            <a:off x="9543833" y="2054707"/>
            <a:ext cx="1998325" cy="515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Приложения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CCB159-ED00-4676-8E20-082A1C3DA75E}"/>
              </a:ext>
            </a:extLst>
          </p:cNvPr>
          <p:cNvSpPr txBox="1"/>
          <p:nvPr/>
        </p:nvSpPr>
        <p:spPr>
          <a:xfrm>
            <a:off x="620135" y="2389671"/>
            <a:ext cx="69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574A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VM1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7B826E-4856-489A-9BEC-B32691BA2BE9}"/>
              </a:ext>
            </a:extLst>
          </p:cNvPr>
          <p:cNvSpPr txBox="1"/>
          <p:nvPr/>
        </p:nvSpPr>
        <p:spPr>
          <a:xfrm>
            <a:off x="3051425" y="2387227"/>
            <a:ext cx="69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574A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VM2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CE24CA-F4DE-439A-B8B8-5EEF700B5F94}"/>
              </a:ext>
            </a:extLst>
          </p:cNvPr>
          <p:cNvSpPr txBox="1"/>
          <p:nvPr/>
        </p:nvSpPr>
        <p:spPr>
          <a:xfrm>
            <a:off x="9483183" y="1648820"/>
            <a:ext cx="69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574A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VM</a:t>
            </a:r>
          </a:p>
        </p:txBody>
      </p:sp>
      <p:sp>
        <p:nvSpPr>
          <p:cNvPr id="40" name="Rectangle 65">
            <a:extLst>
              <a:ext uri="{FF2B5EF4-FFF2-40B4-BE49-F238E27FC236}">
                <a16:creationId xmlns:a16="http://schemas.microsoft.com/office/drawing/2014/main" id="{4B5A5DAC-41C7-4740-854C-5753B40FD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44" y="5914666"/>
            <a:ext cx="1192318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452438" algn="just" eaLnBrk="1" hangingPunct="1">
              <a:spcBef>
                <a:spcPct val="0"/>
              </a:spcBef>
              <a:buNone/>
            </a:pPr>
            <a:r>
              <a:rPr lang="ru-RU" altLang="ru-RU" sz="1600" dirty="0">
                <a:solidFill>
                  <a:srgbClr val="000000"/>
                </a:solidFill>
              </a:rPr>
              <a:t>Для реального применения в продуктивной нагрузке в настоящее время чаще используются гипервизоры типа 1. </a:t>
            </a:r>
          </a:p>
          <a:p>
            <a:pPr marL="0" lvl="1" indent="452438" algn="just" eaLnBrk="1" hangingPunct="1">
              <a:spcBef>
                <a:spcPct val="0"/>
              </a:spcBef>
              <a:buNone/>
            </a:pPr>
            <a:r>
              <a:rPr lang="ru-RU" altLang="ru-RU" sz="1600" dirty="0">
                <a:solidFill>
                  <a:srgbClr val="000000"/>
                </a:solidFill>
              </a:rPr>
              <a:t>С помощью гипервизоров типа 2 чаще проводят различные тестирования в т.ч. в песочницах.</a:t>
            </a:r>
            <a:r>
              <a:rPr lang="ru-RU" altLang="ru-RU" sz="1800" dirty="0">
                <a:solidFill>
                  <a:srgbClr val="000000"/>
                </a:solidFill>
              </a:rPr>
              <a:t>	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F551DF-12D8-416E-8A56-A5501CA1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18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Средства телеобработки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8B7E29-2E0D-4A16-8099-18C69BFD20A8}"/>
              </a:ext>
            </a:extLst>
          </p:cNvPr>
          <p:cNvSpPr txBox="1"/>
          <p:nvPr/>
        </p:nvSpPr>
        <p:spPr>
          <a:xfrm>
            <a:off x="0" y="81955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2574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Коммуникационное оборудование</a:t>
            </a:r>
            <a:endParaRPr lang="ru-RU" b="1" i="1" dirty="0">
              <a:solidFill>
                <a:srgbClr val="2574A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125B48E9-2790-47EE-A0FB-9B9CB3057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7738"/>
              </p:ext>
            </p:extLst>
          </p:nvPr>
        </p:nvGraphicFramePr>
        <p:xfrm>
          <a:off x="2346386" y="1578626"/>
          <a:ext cx="9765103" cy="3114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5103">
                  <a:extLst>
                    <a:ext uri="{9D8B030D-6E8A-4147-A177-3AD203B41FA5}">
                      <a16:colId xmlns:a16="http://schemas.microsoft.com/office/drawing/2014/main" val="3915609284"/>
                    </a:ext>
                  </a:extLst>
                </a:gridCol>
              </a:tblGrid>
              <a:tr h="1020736">
                <a:tc>
                  <a:txBody>
                    <a:bodyPr/>
                    <a:lstStyle/>
                    <a:p>
                      <a:pPr marL="1798638" indent="0" algn="just"/>
                      <a:r>
                        <a:rPr lang="ru-RU" sz="13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Контроллеры и точки доступа </a:t>
                      </a:r>
                      <a:r>
                        <a:rPr lang="en-US" sz="13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Wi-Fi 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предназначены для организации беспроводного подключения устройств к корпоративной вычислительной сети, организации беспроводной сети    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Wi-Fi 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на объектах предприятия.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05514"/>
                  </a:ext>
                </a:extLst>
              </a:tr>
              <a:tr h="1037690">
                <a:tc>
                  <a:txBody>
                    <a:bodyPr/>
                    <a:lstStyle/>
                    <a:p>
                      <a:pPr marL="1798638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Коммутатор доступа 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предназначен для взаимообмена данными между ПЭВМ, серверами  информационных систем, печатающими устройствами, </a:t>
                      </a:r>
                      <a:r>
                        <a:rPr lang="en-US" sz="1300" b="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-телефонами  посредством каналов передачи данных и локальных вычислительных сетей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корпоративной вычислительной сети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544062"/>
                  </a:ext>
                </a:extLst>
              </a:tr>
              <a:tr h="1055625">
                <a:tc>
                  <a:txBody>
                    <a:bodyPr/>
                    <a:lstStyle/>
                    <a:p>
                      <a:pPr marL="1798638" indent="0" algn="just" defTabSz="914400" rtl="0" eaLnBrk="1" latinLnBrk="0" hangingPunct="1"/>
                      <a:r>
                        <a:rPr lang="ru-RU" sz="13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Коммутатор ядра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предназначен для подключения коммутаторов доступа и серверов  информационных систем центра обработки данных к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3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корпоративной вычислительной сети.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07038"/>
                  </a:ext>
                </a:extLst>
              </a:tr>
            </a:tbl>
          </a:graphicData>
        </a:graphic>
      </p:graphicFrame>
      <p:sp>
        <p:nvSpPr>
          <p:cNvPr id="16" name="Равнобедренный треугольник 15">
            <a:extLst>
              <a:ext uri="{FF2B5EF4-FFF2-40B4-BE49-F238E27FC236}">
                <a16:creationId xmlns:a16="http://schemas.microsoft.com/office/drawing/2014/main" id="{82E9EF16-57D1-4C59-989F-99A13D25AC2A}"/>
              </a:ext>
            </a:extLst>
          </p:cNvPr>
          <p:cNvSpPr/>
          <p:nvPr/>
        </p:nvSpPr>
        <p:spPr>
          <a:xfrm>
            <a:off x="73098" y="1621801"/>
            <a:ext cx="4087936" cy="298534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Коммутаторы ядра</a:t>
            </a:r>
          </a:p>
        </p:txBody>
      </p: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A9760496-DEF7-4A14-BCA2-B0EB71B77C74}"/>
              </a:ext>
            </a:extLst>
          </p:cNvPr>
          <p:cNvSpPr/>
          <p:nvPr/>
        </p:nvSpPr>
        <p:spPr>
          <a:xfrm>
            <a:off x="731520" y="1624147"/>
            <a:ext cx="2769325" cy="2024475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Коммутаторы доступа</a:t>
            </a:r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3FB40DC9-4FE9-43AF-AFED-74C7DC114F93}"/>
              </a:ext>
            </a:extLst>
          </p:cNvPr>
          <p:cNvSpPr/>
          <p:nvPr/>
        </p:nvSpPr>
        <p:spPr>
          <a:xfrm>
            <a:off x="1436826" y="1607088"/>
            <a:ext cx="1360479" cy="10128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Wi-Fi</a:t>
            </a: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A0B393-B10E-4391-AC61-A684892AA3B4}"/>
              </a:ext>
            </a:extLst>
          </p:cNvPr>
          <p:cNvSpPr/>
          <p:nvPr/>
        </p:nvSpPr>
        <p:spPr>
          <a:xfrm>
            <a:off x="1" y="4702091"/>
            <a:ext cx="12191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latin typeface="Arial" panose="020B0604020202020204" pitchFamily="34" charset="0"/>
                <a:ea typeface="Calibri" panose="020F0502020204030204" pitchFamily="34" charset="0"/>
              </a:rPr>
              <a:t>Для передачи информации используются радиоканалы, работу которых обеспечивают свыше 500 станций, волоконно-оптические линии связи протяженностью свыше 4 000 км, спутниковые и </a:t>
            </a:r>
            <a:r>
              <a:rPr lang="en-US" sz="1200" b="1" dirty="0">
                <a:latin typeface="Arial" panose="020B0604020202020204" pitchFamily="34" charset="0"/>
                <a:ea typeface="Calibri" panose="020F0502020204030204" pitchFamily="34" charset="0"/>
              </a:rPr>
              <a:t>gsm</a:t>
            </a:r>
            <a:r>
              <a:rPr lang="ru-RU" sz="1200" b="1" dirty="0">
                <a:latin typeface="Arial" panose="020B0604020202020204" pitchFamily="34" charset="0"/>
                <a:ea typeface="Calibri" panose="020F0502020204030204" pitchFamily="34" charset="0"/>
              </a:rPr>
              <a:t>-каналы. </a:t>
            </a:r>
            <a:endParaRPr lang="ru-RU" sz="1200" b="1" dirty="0"/>
          </a:p>
        </p:txBody>
      </p:sp>
      <p:sp>
        <p:nvSpPr>
          <p:cNvPr id="19" name="Rectangle 65">
            <a:extLst>
              <a:ext uri="{FF2B5EF4-FFF2-40B4-BE49-F238E27FC236}">
                <a16:creationId xmlns:a16="http://schemas.microsoft.com/office/drawing/2014/main" id="{6473845F-2B3F-47AC-B10A-326FE7BCF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2" y="5054367"/>
            <a:ext cx="12111488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altLang="ru-RU" sz="1800" b="1" u="sng" dirty="0">
                <a:solidFill>
                  <a:srgbClr val="000000"/>
                </a:solidFill>
              </a:rPr>
              <a:t>Выводы</a:t>
            </a:r>
            <a:r>
              <a:rPr lang="ru-RU" altLang="ru-RU" sz="1800" dirty="0">
                <a:solidFill>
                  <a:srgbClr val="000000"/>
                </a:solidFill>
              </a:rPr>
              <a:t>:	</a:t>
            </a:r>
            <a:r>
              <a:rPr lang="ru-RU" sz="1600" dirty="0"/>
              <a:t>Знания протоколов </a:t>
            </a:r>
            <a:r>
              <a:rPr lang="en-US" sz="1600" dirty="0"/>
              <a:t>Ethernet</a:t>
            </a:r>
            <a:r>
              <a:rPr lang="ru-RU" sz="1600" dirty="0"/>
              <a:t>, </a:t>
            </a:r>
            <a:r>
              <a:rPr lang="en-US" sz="1600" dirty="0"/>
              <a:t>TCP</a:t>
            </a:r>
            <a:r>
              <a:rPr lang="ru-RU" sz="1600" dirty="0"/>
              <a:t>/</a:t>
            </a:r>
            <a:r>
              <a:rPr lang="en-US" sz="1600" dirty="0"/>
              <a:t>IP</a:t>
            </a:r>
            <a:r>
              <a:rPr lang="ru-RU" sz="1600" dirty="0"/>
              <a:t>;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Умения в области настройки сетевого оборудования (коммутаторы, маршрутизаторы);</a:t>
            </a:r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ru-RU" sz="1600" dirty="0"/>
              <a:t>	Знания основ статической и динамической маршрутизации (</a:t>
            </a:r>
            <a:r>
              <a:rPr lang="en-US" sz="1600" dirty="0"/>
              <a:t>OSPF</a:t>
            </a:r>
            <a:r>
              <a:rPr lang="ru-RU" sz="1600" dirty="0"/>
              <a:t>, </a:t>
            </a:r>
            <a:r>
              <a:rPr lang="en-US" sz="1600" dirty="0"/>
              <a:t>RIP</a:t>
            </a:r>
            <a:r>
              <a:rPr lang="ru-RU" sz="1600" dirty="0"/>
              <a:t>);</a:t>
            </a:r>
            <a:endParaRPr lang="en-US" sz="1600" dirty="0"/>
          </a:p>
          <a:p>
            <a:pPr marL="1254125" lvl="1" indent="-1254125" algn="just" eaLnBrk="1" hangingPunct="1">
              <a:spcBef>
                <a:spcPct val="0"/>
              </a:spcBef>
              <a:buNone/>
            </a:pPr>
            <a:r>
              <a:rPr lang="en-US" sz="1600" dirty="0"/>
              <a:t>	</a:t>
            </a:r>
            <a:r>
              <a:rPr lang="ru-RU" sz="1600" dirty="0"/>
              <a:t>Знание основ обеспечения сетевой безопасности (межсетевое экранирование, средства защиты от сетевых атак, системы мониторинга);</a:t>
            </a:r>
          </a:p>
          <a:p>
            <a:pPr marL="1254125" lvl="1" indent="0" algn="just" eaLnBrk="1" hangingPunct="1">
              <a:spcBef>
                <a:spcPct val="0"/>
              </a:spcBef>
              <a:buNone/>
            </a:pPr>
            <a:r>
              <a:rPr lang="ru-RU" sz="1600" dirty="0"/>
              <a:t>Знание принципов работы активного сетевого оборудования: концентраторы, коммутаторы, маршрутизаторы;</a:t>
            </a:r>
          </a:p>
          <a:p>
            <a:pPr marL="1254125" lvl="1" indent="0" algn="just" eaLnBrk="1" hangingPunct="1">
              <a:spcBef>
                <a:spcPct val="0"/>
              </a:spcBef>
              <a:buNone/>
            </a:pPr>
            <a:r>
              <a:rPr lang="ru-RU" sz="1600" dirty="0"/>
              <a:t>Знание принципов построения сетей, чтение сетевых топологий.</a:t>
            </a:r>
            <a:endParaRPr lang="ru-RU" altLang="ru-RU" sz="1800" dirty="0">
              <a:solidFill>
                <a:srgbClr val="0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2E6F8B-4EC5-4F53-820E-9D61C774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64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3259366"/>
            <a:ext cx="121919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ctr" eaLnBrk="1" hangingPunct="1">
              <a:spcBef>
                <a:spcPct val="0"/>
              </a:spcBef>
              <a:buNone/>
            </a:pPr>
            <a:r>
              <a:rPr lang="ru-RU" altLang="ru-RU" sz="3200" dirty="0">
                <a:solidFill>
                  <a:srgbClr val="000000"/>
                </a:solidFill>
              </a:rPr>
              <a:t>Специализированные корпоративные системы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FEE60E-93A6-4318-8291-F98754A8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448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950670"/>
            <a:ext cx="12191999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u="sng" dirty="0">
                <a:solidFill>
                  <a:srgbClr val="000000"/>
                </a:solidFill>
              </a:rPr>
              <a:t>АСУТП</a:t>
            </a:r>
            <a:r>
              <a:rPr lang="ru-RU" altLang="ru-RU" sz="2400" dirty="0">
                <a:solidFill>
                  <a:srgbClr val="000000"/>
                </a:solidFill>
              </a:rPr>
              <a:t>   </a:t>
            </a:r>
            <a:r>
              <a:rPr lang="en-US" altLang="ru-RU" sz="2400" dirty="0">
                <a:solidFill>
                  <a:srgbClr val="000000"/>
                </a:solidFill>
              </a:rPr>
              <a:t>         </a:t>
            </a:r>
            <a:r>
              <a:rPr lang="ru-RU" altLang="ru-RU" sz="2400" dirty="0">
                <a:solidFill>
                  <a:srgbClr val="000000"/>
                </a:solidFill>
              </a:rPr>
              <a:t>– 	системы обеспечивающие автоматизацию </a:t>
            </a:r>
            <a:r>
              <a:rPr lang="ru-RU" altLang="ru-RU" sz="2400" b="1" dirty="0">
                <a:solidFill>
                  <a:srgbClr val="000000"/>
                </a:solidFill>
              </a:rPr>
              <a:t>технологических</a:t>
            </a:r>
            <a:r>
              <a:rPr lang="ru-RU" altLang="ru-RU" sz="2400" dirty="0">
                <a:solidFill>
                  <a:srgbClr val="000000"/>
                </a:solidFill>
              </a:rPr>
              <a:t> процессов предприятия. Помимо основной задачи, являются источником данных для других корпоративных систем.</a:t>
            </a:r>
          </a:p>
          <a:p>
            <a:pPr marL="0" lvl="1" indent="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u="sng" dirty="0">
                <a:solidFill>
                  <a:srgbClr val="000000"/>
                </a:solidFill>
              </a:rPr>
              <a:t>АСУПП</a:t>
            </a:r>
            <a:r>
              <a:rPr lang="ru-RU" altLang="ru-RU" sz="2400" dirty="0">
                <a:solidFill>
                  <a:srgbClr val="000000"/>
                </a:solidFill>
              </a:rPr>
              <a:t>   </a:t>
            </a:r>
            <a:r>
              <a:rPr lang="en-US" altLang="ru-RU" sz="2400" dirty="0">
                <a:solidFill>
                  <a:srgbClr val="000000"/>
                </a:solidFill>
              </a:rPr>
              <a:t>         </a:t>
            </a:r>
            <a:r>
              <a:rPr lang="ru-RU" altLang="ru-RU" sz="2400" dirty="0">
                <a:solidFill>
                  <a:srgbClr val="000000"/>
                </a:solidFill>
              </a:rPr>
              <a:t>– 	системы обеспечивающие производственную деятельность предприятия. Ведение паспортных значений оборудования, плановых показателей, обеспечение производственных процессов и т.д.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u="sng" dirty="0">
                <a:solidFill>
                  <a:srgbClr val="000000"/>
                </a:solidFill>
              </a:rPr>
              <a:t>АСУРП</a:t>
            </a:r>
            <a:r>
              <a:rPr lang="ru-RU" altLang="ru-RU" sz="2400" dirty="0">
                <a:solidFill>
                  <a:srgbClr val="000000"/>
                </a:solidFill>
              </a:rPr>
              <a:t>   </a:t>
            </a:r>
            <a:r>
              <a:rPr lang="en-US" altLang="ru-RU" sz="2400" dirty="0">
                <a:solidFill>
                  <a:srgbClr val="000000"/>
                </a:solidFill>
              </a:rPr>
              <a:t>         </a:t>
            </a:r>
            <a:r>
              <a:rPr lang="ru-RU" altLang="ru-RU" sz="2400" dirty="0">
                <a:solidFill>
                  <a:srgbClr val="000000"/>
                </a:solidFill>
              </a:rPr>
              <a:t>– 	системы по управления ресурсами предприятия. Кадровые системы, налоговая отчётность, расчёт зарплатного фонда, государственная отчетность, единые справочники предприятия и т.д. 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Специализированные корпоративные системы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30506E-71C8-4B25-B751-B3B3D169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425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135336"/>
            <a:ext cx="12191999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Объекты автоматизации систем АСУТП:</a:t>
            </a:r>
            <a:endParaRPr lang="ru-RU" altLang="ru-RU" sz="2400" dirty="0">
              <a:solidFill>
                <a:srgbClr val="000000"/>
              </a:solidFill>
            </a:endParaRP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Тысячи кустов скважин (Нефтедобыча);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Дожимные насосные станции (Нефтедобыча);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Кустовые насосные станции (Нефтедобыча); 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Котельные станции (Инженерное обеспечение);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Очистные сооружения (Инженерное обеспечение);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Нефтепроводы и газопроводы (Инженерное обеспечение);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Солерастворные узлы (Инженерное обеспечение);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Электрические подстанции (Электроэнергетика);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Буровые установки (Бурение);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Земснаряда (Подготовительные работы).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В целом автоматизируются все уровни технологических процессов предприятия, всего более 200 различных типов объектов.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3973A5-31B8-4E3A-9749-7FB90CA6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522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454DDA6D-09F1-4297-A8D3-CD3F9BE43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07717"/>
              </p:ext>
            </p:extLst>
          </p:nvPr>
        </p:nvGraphicFramePr>
        <p:xfrm>
          <a:off x="4961341" y="1147485"/>
          <a:ext cx="6429375" cy="465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Точечный рисунок" r:id="rId4" imgW="6429240" imgH="4657680" progId="Paint.Picture.1">
                  <p:embed/>
                </p:oleObj>
              </mc:Choice>
              <mc:Fallback>
                <p:oleObj name="Точечный рисунок" r:id="rId4" imgW="6429240" imgH="465768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61341" y="1147485"/>
                        <a:ext cx="6429375" cy="465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 – Классическая архитектура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6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3F2E80-1919-4920-8B8E-2BE56D3F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14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B6A67-2E0A-408F-9F9B-CD1BBAE57C5D}"/>
              </a:ext>
            </a:extLst>
          </p:cNvPr>
          <p:cNvSpPr txBox="1"/>
          <p:nvPr/>
        </p:nvSpPr>
        <p:spPr>
          <a:xfrm>
            <a:off x="1301535" y="1212837"/>
            <a:ext cx="250094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300" b="1" dirty="0"/>
              <a:t>Три уровня АСУТП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93ACFC7-B0F6-48A0-831E-73DE436CBD96}"/>
              </a:ext>
            </a:extLst>
          </p:cNvPr>
          <p:cNvSpPr/>
          <p:nvPr/>
        </p:nvSpPr>
        <p:spPr>
          <a:xfrm>
            <a:off x="1051099" y="1862740"/>
            <a:ext cx="2964873" cy="889198"/>
          </a:xfrm>
          <a:prstGeom prst="roundRect">
            <a:avLst/>
          </a:prstGeom>
          <a:solidFill>
            <a:srgbClr val="FF5C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3E3B24C-3BFB-462D-930C-1FDDD11B85D6}"/>
              </a:ext>
            </a:extLst>
          </p:cNvPr>
          <p:cNvSpPr/>
          <p:nvPr/>
        </p:nvSpPr>
        <p:spPr>
          <a:xfrm>
            <a:off x="1051100" y="3222567"/>
            <a:ext cx="2964873" cy="889198"/>
          </a:xfrm>
          <a:prstGeom prst="roundRect">
            <a:avLst/>
          </a:prstGeom>
          <a:solidFill>
            <a:srgbClr val="99FF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F999F1D-4081-40C9-BCB4-9E45F7D66C5F}"/>
              </a:ext>
            </a:extLst>
          </p:cNvPr>
          <p:cNvSpPr/>
          <p:nvPr/>
        </p:nvSpPr>
        <p:spPr>
          <a:xfrm>
            <a:off x="1051097" y="4582394"/>
            <a:ext cx="2964873" cy="889198"/>
          </a:xfrm>
          <a:prstGeom prst="roundRect">
            <a:avLst/>
          </a:prstGeom>
          <a:solidFill>
            <a:srgbClr val="FEFE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21F3B0-DD6B-4B7D-A2B7-354E04B71EC6}"/>
              </a:ext>
            </a:extLst>
          </p:cNvPr>
          <p:cNvSpPr txBox="1"/>
          <p:nvPr/>
        </p:nvSpPr>
        <p:spPr>
          <a:xfrm>
            <a:off x="1383211" y="1983940"/>
            <a:ext cx="23006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i="1" dirty="0"/>
              <a:t>ВЕРХНИЙ УРОВЕНЬ</a:t>
            </a:r>
          </a:p>
          <a:p>
            <a:pPr algn="ctr"/>
            <a:r>
              <a:rPr lang="en-US" sz="2200" b="1" dirty="0"/>
              <a:t>HMI, SCADA</a:t>
            </a:r>
            <a:endParaRPr lang="ru-RU" sz="2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EEDA6-8EB4-446F-B6B6-09B9CCA92E64}"/>
              </a:ext>
            </a:extLst>
          </p:cNvPr>
          <p:cNvSpPr txBox="1"/>
          <p:nvPr/>
        </p:nvSpPr>
        <p:spPr>
          <a:xfrm>
            <a:off x="1051099" y="3320447"/>
            <a:ext cx="296487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i="1" dirty="0"/>
              <a:t>СРЕДНИЙ УРОВЕНЬ</a:t>
            </a:r>
          </a:p>
          <a:p>
            <a:pPr algn="ctr"/>
            <a:r>
              <a:rPr lang="ru-RU" sz="1050" b="1" dirty="0"/>
              <a:t>Программируемые логические контроллеры, регуляторы, программируемые реле, счетчики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D0D07-ED34-4255-9B94-2D03B5D10EF7}"/>
              </a:ext>
            </a:extLst>
          </p:cNvPr>
          <p:cNvSpPr txBox="1"/>
          <p:nvPr/>
        </p:nvSpPr>
        <p:spPr>
          <a:xfrm>
            <a:off x="1334519" y="4696133"/>
            <a:ext cx="2467957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i="1" dirty="0"/>
              <a:t>НИЖНИЙ УРОВЕНЬ</a:t>
            </a:r>
          </a:p>
          <a:p>
            <a:pPr algn="ctr"/>
            <a:r>
              <a:rPr lang="ru-RU" sz="1050" b="1" dirty="0"/>
              <a:t>КИП, датчики, сенсоры, исполнительные механизмы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E8413A-12FE-40C7-A895-AB92D174596B}"/>
              </a:ext>
            </a:extLst>
          </p:cNvPr>
          <p:cNvSpPr txBox="1"/>
          <p:nvPr/>
        </p:nvSpPr>
        <p:spPr>
          <a:xfrm>
            <a:off x="5447283" y="970380"/>
            <a:ext cx="1408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/>
              <a:t>АРМы АСУ ТП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52EAEA-B2AC-4E33-A954-BA64A63B6E53}"/>
              </a:ext>
            </a:extLst>
          </p:cNvPr>
          <p:cNvSpPr txBox="1"/>
          <p:nvPr/>
        </p:nvSpPr>
        <p:spPr>
          <a:xfrm>
            <a:off x="6874026" y="1506250"/>
            <a:ext cx="2805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Операторское управление технологическим процессом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F49737-AD0D-4567-94B1-BF938FAB1DAD}"/>
              </a:ext>
            </a:extLst>
          </p:cNvPr>
          <p:cNvSpPr txBox="1"/>
          <p:nvPr/>
        </p:nvSpPr>
        <p:spPr>
          <a:xfrm>
            <a:off x="7336120" y="2574498"/>
            <a:ext cx="181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Технологические серверы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38338F-D94E-40AA-A2C9-E2BBA640A42B}"/>
              </a:ext>
            </a:extLst>
          </p:cNvPr>
          <p:cNvSpPr txBox="1"/>
          <p:nvPr/>
        </p:nvSpPr>
        <p:spPr>
          <a:xfrm>
            <a:off x="4497833" y="2825429"/>
            <a:ext cx="2376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Сеть передачи данных технологического процесса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B538B-91E1-4C48-91E0-66FD84B42D04}"/>
              </a:ext>
            </a:extLst>
          </p:cNvPr>
          <p:cNvSpPr txBox="1"/>
          <p:nvPr/>
        </p:nvSpPr>
        <p:spPr>
          <a:xfrm>
            <a:off x="5965467" y="3437201"/>
            <a:ext cx="1817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Контроллеры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6A31B3-9858-4AE2-9208-FD5ACAA406AF}"/>
              </a:ext>
            </a:extLst>
          </p:cNvPr>
          <p:cNvSpPr txBox="1"/>
          <p:nvPr/>
        </p:nvSpPr>
        <p:spPr>
          <a:xfrm>
            <a:off x="4683613" y="5333765"/>
            <a:ext cx="181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Измерительные приборы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CB59FE-23A6-43C5-87DD-0D8001E4F205}"/>
              </a:ext>
            </a:extLst>
          </p:cNvPr>
          <p:cNvSpPr txBox="1"/>
          <p:nvPr/>
        </p:nvSpPr>
        <p:spPr>
          <a:xfrm>
            <a:off x="6171604" y="5333765"/>
            <a:ext cx="181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Исполнительные механизмы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CA8357-78F5-4605-96F1-610DA8FCF772}"/>
              </a:ext>
            </a:extLst>
          </p:cNvPr>
          <p:cNvSpPr txBox="1"/>
          <p:nvPr/>
        </p:nvSpPr>
        <p:spPr>
          <a:xfrm>
            <a:off x="7862317" y="5170095"/>
            <a:ext cx="1817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Интеллектуальные измерительные приборы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9E2095-1BF1-4A69-87AD-BAD201AD305E}"/>
              </a:ext>
            </a:extLst>
          </p:cNvPr>
          <p:cNvSpPr txBox="1"/>
          <p:nvPr/>
        </p:nvSpPr>
        <p:spPr>
          <a:xfrm>
            <a:off x="9573599" y="5170095"/>
            <a:ext cx="1817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/>
              <a:t>Интеллектуальные исполнительные механизмы</a:t>
            </a:r>
          </a:p>
        </p:txBody>
      </p:sp>
      <p:sp>
        <p:nvSpPr>
          <p:cNvPr id="10" name="Стрелка: вверх-вниз 9">
            <a:extLst>
              <a:ext uri="{FF2B5EF4-FFF2-40B4-BE49-F238E27FC236}">
                <a16:creationId xmlns:a16="http://schemas.microsoft.com/office/drawing/2014/main" id="{E9E568D8-71A8-44CD-9B62-DDAF8A59D7BC}"/>
              </a:ext>
            </a:extLst>
          </p:cNvPr>
          <p:cNvSpPr/>
          <p:nvPr/>
        </p:nvSpPr>
        <p:spPr>
          <a:xfrm>
            <a:off x="1509811" y="2782248"/>
            <a:ext cx="83344" cy="424381"/>
          </a:xfrm>
          <a:prstGeom prst="upDownArrow">
            <a:avLst>
              <a:gd name="adj1" fmla="val 0"/>
              <a:gd name="adj2" fmla="val 148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трелка: вверх-вниз 30">
            <a:extLst>
              <a:ext uri="{FF2B5EF4-FFF2-40B4-BE49-F238E27FC236}">
                <a16:creationId xmlns:a16="http://schemas.microsoft.com/office/drawing/2014/main" id="{C47BEA62-A974-499A-A1C2-6A403616D859}"/>
              </a:ext>
            </a:extLst>
          </p:cNvPr>
          <p:cNvSpPr/>
          <p:nvPr/>
        </p:nvSpPr>
        <p:spPr>
          <a:xfrm>
            <a:off x="2505818" y="2782248"/>
            <a:ext cx="83344" cy="424381"/>
          </a:xfrm>
          <a:prstGeom prst="upDownArrow">
            <a:avLst>
              <a:gd name="adj1" fmla="val 0"/>
              <a:gd name="adj2" fmla="val 148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трелка: вверх-вниз 31">
            <a:extLst>
              <a:ext uri="{FF2B5EF4-FFF2-40B4-BE49-F238E27FC236}">
                <a16:creationId xmlns:a16="http://schemas.microsoft.com/office/drawing/2014/main" id="{D6FF1D68-2F02-4C99-B663-C7A89A5BA01F}"/>
              </a:ext>
            </a:extLst>
          </p:cNvPr>
          <p:cNvSpPr/>
          <p:nvPr/>
        </p:nvSpPr>
        <p:spPr>
          <a:xfrm>
            <a:off x="3505259" y="2782450"/>
            <a:ext cx="83344" cy="424381"/>
          </a:xfrm>
          <a:prstGeom prst="upDownArrow">
            <a:avLst>
              <a:gd name="adj1" fmla="val 0"/>
              <a:gd name="adj2" fmla="val 148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Стрелка: вверх-вниз 32">
            <a:extLst>
              <a:ext uri="{FF2B5EF4-FFF2-40B4-BE49-F238E27FC236}">
                <a16:creationId xmlns:a16="http://schemas.microsoft.com/office/drawing/2014/main" id="{3DFBAB86-A067-4E2A-AACC-6278FE5C216E}"/>
              </a:ext>
            </a:extLst>
          </p:cNvPr>
          <p:cNvSpPr/>
          <p:nvPr/>
        </p:nvSpPr>
        <p:spPr>
          <a:xfrm>
            <a:off x="1509811" y="4133465"/>
            <a:ext cx="83344" cy="424381"/>
          </a:xfrm>
          <a:prstGeom prst="upDownArrow">
            <a:avLst>
              <a:gd name="adj1" fmla="val 0"/>
              <a:gd name="adj2" fmla="val 148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: вверх-вниз 33">
            <a:extLst>
              <a:ext uri="{FF2B5EF4-FFF2-40B4-BE49-F238E27FC236}">
                <a16:creationId xmlns:a16="http://schemas.microsoft.com/office/drawing/2014/main" id="{BB0D2A17-DE4A-47E8-B71A-F3FF3239A872}"/>
              </a:ext>
            </a:extLst>
          </p:cNvPr>
          <p:cNvSpPr/>
          <p:nvPr/>
        </p:nvSpPr>
        <p:spPr>
          <a:xfrm>
            <a:off x="2505818" y="4133465"/>
            <a:ext cx="83344" cy="424381"/>
          </a:xfrm>
          <a:prstGeom prst="upDownArrow">
            <a:avLst>
              <a:gd name="adj1" fmla="val 0"/>
              <a:gd name="adj2" fmla="val 148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Стрелка: вверх-вниз 34">
            <a:extLst>
              <a:ext uri="{FF2B5EF4-FFF2-40B4-BE49-F238E27FC236}">
                <a16:creationId xmlns:a16="http://schemas.microsoft.com/office/drawing/2014/main" id="{0E81871D-6117-4F4C-8B8D-6181FF768ADC}"/>
              </a:ext>
            </a:extLst>
          </p:cNvPr>
          <p:cNvSpPr/>
          <p:nvPr/>
        </p:nvSpPr>
        <p:spPr>
          <a:xfrm>
            <a:off x="3505259" y="4133667"/>
            <a:ext cx="83344" cy="424381"/>
          </a:xfrm>
          <a:prstGeom prst="upDownArrow">
            <a:avLst>
              <a:gd name="adj1" fmla="val 0"/>
              <a:gd name="adj2" fmla="val 148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087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178426"/>
            <a:ext cx="12191999" cy="517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800" dirty="0">
                <a:solidFill>
                  <a:srgbClr val="000000"/>
                </a:solidFill>
                <a:latin typeface="Lato"/>
              </a:rPr>
              <a:t>Уровень </a:t>
            </a:r>
            <a:r>
              <a:rPr lang="ru-RU" sz="2800" b="1" dirty="0">
                <a:solidFill>
                  <a:srgbClr val="000000"/>
                </a:solidFill>
                <a:latin typeface="Lato"/>
              </a:rPr>
              <a:t>контроллеров (PLC)</a:t>
            </a:r>
            <a:r>
              <a:rPr lang="ru-RU" sz="2800" dirty="0">
                <a:solidFill>
                  <a:srgbClr val="000000"/>
                </a:solidFill>
                <a:latin typeface="Lato"/>
              </a:rPr>
              <a:t>, которые монтируются на объектах внутри шкафов автоматизации. </a:t>
            </a:r>
          </a:p>
          <a:p>
            <a:pPr algn="just">
              <a:buNone/>
            </a:pPr>
            <a:r>
              <a:rPr lang="ru-RU" sz="2800" dirty="0">
                <a:solidFill>
                  <a:srgbClr val="000000"/>
                </a:solidFill>
                <a:latin typeface="Lato"/>
              </a:rPr>
              <a:t>Получая информацию от полевого уровня, контроллеры передают ее на верхний уровень. </a:t>
            </a:r>
          </a:p>
          <a:p>
            <a:pPr algn="just">
              <a:buNone/>
            </a:pPr>
            <a:r>
              <a:rPr lang="ru-RU" sz="2800" dirty="0">
                <a:solidFill>
                  <a:srgbClr val="000000"/>
                </a:solidFill>
                <a:latin typeface="Lato"/>
              </a:rPr>
              <a:t>На этом уровне у нас используются аппаратное и программное обеспечение как собственной разработки так и решения от внешних производителей оборудования. </a:t>
            </a:r>
          </a:p>
          <a:p>
            <a:pPr algn="just">
              <a:buNone/>
            </a:pPr>
            <a:endParaRPr lang="ru-RU" sz="2800" dirty="0">
              <a:solidFill>
                <a:srgbClr val="000000"/>
              </a:solidFill>
              <a:latin typeface="Lato"/>
            </a:endParaRPr>
          </a:p>
          <a:p>
            <a:pPr algn="ctr">
              <a:buNone/>
            </a:pPr>
            <a:r>
              <a:rPr lang="ru-RU" sz="2800" b="1" dirty="0">
                <a:solidFill>
                  <a:srgbClr val="000000"/>
                </a:solidFill>
                <a:latin typeface="Lato"/>
              </a:rPr>
              <a:t>Мы регулярно тестируем контроллеры российского производства с целью определения возможности их применения на нашем предприятии.</a:t>
            </a:r>
            <a:endParaRPr lang="ru-RU" sz="2800" b="1" dirty="0"/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 – Средний уровень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4953AF-079C-49B2-8959-5EFFF22E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919896"/>
            <a:ext cx="12191999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800" dirty="0"/>
              <a:t>Уровень </a:t>
            </a:r>
            <a:r>
              <a:rPr lang="ru-RU" sz="2800" b="1" dirty="0"/>
              <a:t>систем оперативно-диспетчерского управления</a:t>
            </a:r>
            <a:r>
              <a:rPr lang="ru-RU" sz="2800" dirty="0"/>
              <a:t>, в работе которого принимают участие операторы. </a:t>
            </a:r>
          </a:p>
          <a:p>
            <a:pPr algn="just">
              <a:buNone/>
            </a:pPr>
            <a:r>
              <a:rPr lang="ru-RU" sz="2800" dirty="0"/>
              <a:t>Оборудование и программное обеспечение на данном уровне осуществляет сбор, хранение, выдачу необходимой информации по запросу. </a:t>
            </a:r>
          </a:p>
          <a:p>
            <a:pPr algn="just">
              <a:buNone/>
            </a:pPr>
            <a:r>
              <a:rPr lang="ru-RU" sz="2800" dirty="0"/>
              <a:t>На этом уровне у нас используется программное обеспечение собственной разработки. </a:t>
            </a:r>
          </a:p>
          <a:p>
            <a:pPr algn="just">
              <a:buNone/>
            </a:pPr>
            <a:r>
              <a:rPr lang="ru-RU" sz="2800" dirty="0"/>
              <a:t>В качестве аппаратной платформы может использоваться и Российское оборудование. </a:t>
            </a:r>
          </a:p>
          <a:p>
            <a:pPr algn="just">
              <a:buNone/>
            </a:pPr>
            <a:endParaRPr lang="ru-RU" sz="2800" dirty="0"/>
          </a:p>
          <a:p>
            <a:pPr algn="ctr">
              <a:buNone/>
            </a:pPr>
            <a:r>
              <a:rPr lang="ru-RU" sz="2800" b="1" dirty="0"/>
              <a:t>Так как все ПО собственной разработки, то адаптация его под другие платформы решаемая задача.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 – Верхний уровень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671E910-C28F-40C6-AD02-F62D7EA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48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172272"/>
            <a:ext cx="12191999" cy="51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400" dirty="0"/>
              <a:t>Благодаря использованию </a:t>
            </a:r>
            <a:r>
              <a:rPr lang="ru-RU" sz="2400" b="1" dirty="0"/>
              <a:t>ПО собственной разработки </a:t>
            </a:r>
            <a:r>
              <a:rPr lang="ru-RU" sz="2400" dirty="0"/>
              <a:t>мы на всех уровнях, кроме уровня датчиков, имеем общую классификацию и структуру описания системы. </a:t>
            </a:r>
          </a:p>
          <a:p>
            <a:pPr algn="just">
              <a:buNone/>
            </a:pPr>
            <a:r>
              <a:rPr lang="ru-RU" sz="2400" dirty="0"/>
              <a:t>Имеется общая база нормативно справочной информации (НСИ), которая позволяет произвести бесшовную интеграцию с системами верхнего уровня и системами центральной инженерной технологической службы (ЦИТС). </a:t>
            </a:r>
          </a:p>
          <a:p>
            <a:pPr algn="just">
              <a:buNone/>
            </a:pPr>
            <a:r>
              <a:rPr lang="ru-RU" sz="2400" dirty="0"/>
              <a:t>Для обмена между уровнями автоматизации и с системами сторонней разработки, применяются как стандартные протоколы семейств так и протоколы собственной разработки применяемые  уже на протяжении более чем 15 лет. </a:t>
            </a:r>
          </a:p>
          <a:p>
            <a:pPr algn="just">
              <a:buNone/>
            </a:pPr>
            <a:endParaRPr lang="ru-RU" sz="2400" dirty="0"/>
          </a:p>
          <a:p>
            <a:pPr algn="ctr">
              <a:buNone/>
            </a:pPr>
            <a:r>
              <a:rPr lang="ru-RU" sz="2400" b="1" dirty="0"/>
              <a:t>Процесс добавления поддержки новых протоколов идет постоянно. Добавляются как специфические протоколы для работы с оборудованием так и протоколы широкого применения.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 – Интеграция со сторонними АСУТП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1E3989-D3EF-4AFF-B0F6-E58D1AF6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8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766007"/>
            <a:ext cx="12191999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400" dirty="0"/>
              <a:t>Уровень </a:t>
            </a:r>
            <a:r>
              <a:rPr lang="ru-RU" sz="2400" b="1" dirty="0"/>
              <a:t>центральной инженерно-технологической службы</a:t>
            </a:r>
            <a:r>
              <a:rPr lang="ru-RU" sz="2400" dirty="0"/>
              <a:t> предназначен для вывода и обработки информации </a:t>
            </a:r>
            <a:r>
              <a:rPr lang="ru-RU" sz="2400" u="sng" dirty="0"/>
              <a:t>с географически распределенных, но логически связанных</a:t>
            </a:r>
            <a:r>
              <a:rPr lang="ru-RU" sz="2400" dirty="0"/>
              <a:t>, систем АСУТП.</a:t>
            </a:r>
          </a:p>
          <a:p>
            <a:pPr algn="just">
              <a:buNone/>
            </a:pPr>
            <a:r>
              <a:rPr lang="ru-RU" sz="2400" dirty="0"/>
              <a:t>Специалисты центральной инженерно-технологической службы обладают высоким уровнем опыта и знаний и обеспечивают непрерывную качественную работу географически распределённых систем.</a:t>
            </a:r>
          </a:p>
          <a:p>
            <a:pPr algn="just">
              <a:buNone/>
            </a:pPr>
            <a:r>
              <a:rPr lang="ru-RU" sz="2400" dirty="0"/>
              <a:t>Уровень ЦИТС полностью является собственной разработкой направления АСУТП производственного управления «СургутАСУнефть»                                  ПАО «Сургутнефтегаз».</a:t>
            </a:r>
          </a:p>
          <a:p>
            <a:pPr algn="just">
              <a:buNone/>
            </a:pPr>
            <a:r>
              <a:rPr lang="ru-RU" sz="2400" dirty="0"/>
              <a:t>Именно на уровне ЦИТС реализованы все интеграции со специализированными корпоративными системами других классов (АСУПП и АСУРП).</a:t>
            </a:r>
          </a:p>
          <a:p>
            <a:pPr algn="just">
              <a:buNone/>
            </a:pPr>
            <a:endParaRPr lang="ru-RU" sz="2400" b="1" dirty="0"/>
          </a:p>
          <a:p>
            <a:pPr algn="ctr">
              <a:buNone/>
            </a:pPr>
            <a:r>
              <a:rPr lang="ru-RU" sz="2400" b="1" dirty="0"/>
              <a:t>В связи с необходимостью и постоянно изменяемыми требованиями уровень ЦИТС постоянно развивается, как с точки зрения бизнеса, так и с точки зрения применяемых для его построения технологий.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 – Уровень ЦИТС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EC458D-4147-4B3E-9F66-78DB2FAE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131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481038"/>
            <a:ext cx="12191999" cy="64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400" b="1" dirty="0"/>
              <a:t>В направлении служб эксплуатации АСУТП: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оборудования нижнего уровне АСУТП (КИП);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Расширенные знания в области настройки серверных ОС </a:t>
            </a:r>
            <a:r>
              <a:rPr lang="ru-RU" sz="2400" dirty="0" err="1"/>
              <a:t>Linux</a:t>
            </a:r>
            <a:r>
              <a:rPr lang="ru-RU" sz="2400" dirty="0"/>
              <a:t> и ОС реального времени;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серверной архитектуры и сетевой инфраструктуры;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Знание аппаратной части, умения в области диагностики и выявления неисправностей на компонентном уровне (материнская плата, блок питания, оперативная память и т.д.).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ru-RU" sz="2400" dirty="0"/>
          </a:p>
          <a:p>
            <a:pPr algn="just">
              <a:buNone/>
            </a:pPr>
            <a:r>
              <a:rPr lang="ru-RU" sz="2400" b="1" dirty="0"/>
              <a:t>В направлении служб разработки АСУТП (плюсом к первому пункту):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Высокий уровень знаний в области архитектуры систем АСУТП;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Навыки построения архитектуры АСУТП;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основ промышленных протоколов АСУТП;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безопасной разработки ПО;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основ системного и объектного программирования.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АСУТП – Требования к персоналу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E7EA16-5814-40F5-BACA-E7E8F915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21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2243331"/>
            <a:ext cx="12191999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Объекты автоматизации систем АСУПП</a:t>
            </a:r>
            <a:r>
              <a:rPr lang="ru-RU" altLang="ru-RU" sz="2400" dirty="0">
                <a:solidFill>
                  <a:srgbClr val="000000"/>
                </a:solidFill>
              </a:rPr>
              <a:t>: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Ведение паспортных и эксплуатационных показателей сотней типов оборудования применяемого на предприятии;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Ведение и согласование плановых показателей деятельности предприятия;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Создание и актуализация системы ГИС предприятия;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Обеспечение всех производственных процессов, протекающих на предприятии.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В целом автоматизируются все уровни производственных процессов.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АСУПП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EB4C27D-AC58-49D6-B7FF-BCC79B57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798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320002"/>
            <a:ext cx="12191999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Системы АСУПП построены по принципу корпоративных информационных систем на основе классической трехзвенной архитектуры</a:t>
            </a:r>
            <a:r>
              <a:rPr lang="ru-RU" altLang="ru-RU" sz="2400" dirty="0">
                <a:solidFill>
                  <a:srgbClr val="000000"/>
                </a:solidFill>
              </a:rPr>
              <a:t>: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Нижний уровень – уровень хранения данных. Представляет собой СУБД различных типов. В качестве СУБД применяются решения Российского производства.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Средний уровень – уровень </a:t>
            </a:r>
            <a:r>
              <a:rPr lang="en-US" altLang="ru-RU" sz="2400" dirty="0">
                <a:solidFill>
                  <a:srgbClr val="000000"/>
                </a:solidFill>
              </a:rPr>
              <a:t>web-</a:t>
            </a:r>
            <a:r>
              <a:rPr lang="ru-RU" altLang="ru-RU" sz="2400" dirty="0">
                <a:solidFill>
                  <a:srgbClr val="000000"/>
                </a:solidFill>
              </a:rPr>
              <a:t>приложений. Представляет собой решения собственной разработки на высокоуровневом языке программирования, реализующие всю требуемую бизнес-логику.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Верхний уровень – уровень интерфейса пользователя. Решения на основе технологии «тонкий клиент» собственной разработки.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Помимо классической архитектуры, могут применяться решения двухзвенной архитектуры (СУБД + толстый клиент).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АСУПП – Классическая архитектура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F6C8B6-08BE-49FF-BEC7-6F7D0A3B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25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367434"/>
            <a:ext cx="12191999" cy="467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400" b="1" dirty="0"/>
              <a:t>В направлении служб эксплуатации АСУПП: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Высокий уровень знаний в области архитектуры корпоративных информационных систем;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администрирования и эксплуатации СУБД, навыки написания</a:t>
            </a:r>
            <a:r>
              <a:rPr lang="en-US" sz="2400" dirty="0"/>
              <a:t> SQL-</a:t>
            </a:r>
            <a:r>
              <a:rPr lang="ru-RU" sz="2400" dirty="0"/>
              <a:t>запросов.</a:t>
            </a:r>
          </a:p>
          <a:p>
            <a:pPr algn="just">
              <a:buNone/>
            </a:pPr>
            <a:endParaRPr lang="ru-RU" sz="2400" dirty="0"/>
          </a:p>
          <a:p>
            <a:pPr algn="just">
              <a:buNone/>
            </a:pPr>
            <a:r>
              <a:rPr lang="ru-RU" sz="2400" b="1" dirty="0"/>
              <a:t>В направлении служб разработки АСУПП (плюсом к первому пункту):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безопасной разработки ПО;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Знание современных методологий и технологий построения корпоративных информационных систем;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основ объектного программирования.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АСУПП – Требования к персоналу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76DDAB-39A0-4000-9292-A13E9D52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472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689333"/>
            <a:ext cx="1219199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76650" lvl="1" indent="-367665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Объекты автоматизации систем АСУРП</a:t>
            </a:r>
            <a:r>
              <a:rPr lang="ru-RU" altLang="ru-RU" sz="2400" dirty="0">
                <a:solidFill>
                  <a:srgbClr val="000000"/>
                </a:solidFill>
              </a:rPr>
              <a:t>: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Ведение единых справочников предприятия;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Ведение реестров всего применяемого оборудования;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Ведение кадровых систем;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Налоговая отчётность;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Расчёт зарплатного фонда;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Государственная отчетность;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…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В целом обеспечивается автоматизация учета и ведения всех ресурсов предприятия.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АСУРП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5D49F0-EA40-4F01-B2E8-C8C57E8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058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950670"/>
            <a:ext cx="12191999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Системы АСУРП представляют собой крупные </a:t>
            </a:r>
            <a:r>
              <a:rPr lang="en-US" altLang="ru-RU" sz="2400" b="1" dirty="0">
                <a:solidFill>
                  <a:srgbClr val="000000"/>
                </a:solidFill>
              </a:rPr>
              <a:t>ERP-</a:t>
            </a:r>
            <a:r>
              <a:rPr lang="ru-RU" altLang="ru-RU" sz="2400" b="1" dirty="0">
                <a:solidFill>
                  <a:srgbClr val="000000"/>
                </a:solidFill>
              </a:rPr>
              <a:t>системы.</a:t>
            </a:r>
          </a:p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Построены по принципу корпоративных информационных систем на основе классической трехзвенной архитектуры</a:t>
            </a:r>
            <a:r>
              <a:rPr lang="ru-RU" altLang="ru-RU" sz="2400" dirty="0">
                <a:solidFill>
                  <a:srgbClr val="000000"/>
                </a:solidFill>
              </a:rPr>
              <a:t>: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Нижний уровень – уровень хранения данных. Представляет собой СУБД различных типов. В качестве СУБД применяются решения импортного и Российского производства.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Средний уровень – уровень </a:t>
            </a:r>
            <a:r>
              <a:rPr lang="en-US" altLang="ru-RU" sz="2400" dirty="0">
                <a:solidFill>
                  <a:srgbClr val="000000"/>
                </a:solidFill>
              </a:rPr>
              <a:t>web-</a:t>
            </a:r>
            <a:r>
              <a:rPr lang="ru-RU" altLang="ru-RU" sz="2400" dirty="0">
                <a:solidFill>
                  <a:srgbClr val="000000"/>
                </a:solidFill>
              </a:rPr>
              <a:t>приложений. Представляет собой решения импортного производства и собственной разработки на высокоуровневом языке программирования, реализующие всю требуемую бизнес-логику.</a:t>
            </a:r>
          </a:p>
          <a:p>
            <a:pPr marL="442913" lvl="1" indent="-442913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Верхний уровень – уровень интерфейса пользователя. Решения на основе технологии «тонкий клиент» импортного производства и собственной разработки.</a:t>
            </a:r>
          </a:p>
          <a:p>
            <a:pPr marL="3676650" lvl="1" indent="-367665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solidFill>
                  <a:srgbClr val="000000"/>
                </a:solidFill>
              </a:rPr>
              <a:t>Все крупные компании на рынке России до недавнего времени как правило  применяли только импортные решения на данном уровне.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АСУРП – Классическая архитектура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D76067-2F31-4006-B3A3-754903AE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01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367434"/>
            <a:ext cx="12191999" cy="467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buNone/>
            </a:pPr>
            <a:r>
              <a:rPr lang="ru-RU" sz="2400" b="1" dirty="0"/>
              <a:t>В направлении служб эксплуатации АСУРП: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Высокий уровень знаний в области архитектуры корпоративных информационных систем;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администрирования и эксплуатации СУБД, навыки написания</a:t>
            </a:r>
            <a:r>
              <a:rPr lang="en-US" sz="2400" dirty="0"/>
              <a:t> SQL-</a:t>
            </a:r>
            <a:r>
              <a:rPr lang="ru-RU" sz="2400" dirty="0"/>
              <a:t>запросов.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ru-RU" sz="2400" dirty="0"/>
          </a:p>
          <a:p>
            <a:pPr algn="just">
              <a:buNone/>
            </a:pPr>
            <a:r>
              <a:rPr lang="ru-RU" sz="2400" b="1" dirty="0"/>
              <a:t>В направлении служб разработки АСУТП (плюсом к первому пункту):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безопасной разработки ПО;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в области программирования с использованием технологий скриптования в офисных приложениях;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Знания основ системного и объектного программирования.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АСУРП – Требования к персоналу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446576-F57D-4375-9549-0BD6BB11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414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443114"/>
            <a:ext cx="12191999" cy="46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Снижение зависимости от импортных компонент на каждом уровне ИТ-инфраструктуры предприятия:</a:t>
            </a:r>
          </a:p>
          <a:p>
            <a:pPr marL="895350" lvl="1" indent="-895350" algn="just" eaLnBrk="1" hangingPunct="1">
              <a:spcBef>
                <a:spcPct val="0"/>
              </a:spcBef>
              <a:buNone/>
            </a:pPr>
            <a:r>
              <a:rPr lang="ru-RU" altLang="ru-RU" sz="2400" dirty="0">
                <a:solidFill>
                  <a:srgbClr val="000000"/>
                </a:solidFill>
              </a:rPr>
              <a:t>	</a:t>
            </a:r>
            <a:r>
              <a:rPr lang="ru-RU" altLang="ru-RU" sz="2000" dirty="0">
                <a:solidFill>
                  <a:srgbClr val="000000"/>
                </a:solidFill>
              </a:rPr>
              <a:t>Импортозамещение в области средств телеобработки и копировально-множительной техники;</a:t>
            </a:r>
          </a:p>
          <a:p>
            <a:pPr marL="895350" lvl="1" indent="-895350" algn="just" eaLnBrk="1" hangingPunct="1">
              <a:spcBef>
                <a:spcPct val="0"/>
              </a:spcBef>
              <a:buNone/>
            </a:pPr>
            <a:r>
              <a:rPr lang="ru-RU" altLang="ru-RU" sz="2000" dirty="0">
                <a:solidFill>
                  <a:srgbClr val="000000"/>
                </a:solidFill>
              </a:rPr>
              <a:t>	Реинжиниринг уже применяемых решений с целью импортозамещения технологического стека специализированных информационных систем;</a:t>
            </a:r>
          </a:p>
          <a:p>
            <a:pPr marL="895350" lvl="1" indent="-895350" algn="just" eaLnBrk="1" hangingPunct="1">
              <a:spcBef>
                <a:spcPct val="0"/>
              </a:spcBef>
              <a:buNone/>
            </a:pPr>
            <a:r>
              <a:rPr lang="ru-RU" altLang="ru-RU" sz="2000" dirty="0">
                <a:solidFill>
                  <a:srgbClr val="000000"/>
                </a:solidFill>
              </a:rPr>
              <a:t>	Импортозамещение средств, обеспечивающих ИБ предприятия.</a:t>
            </a:r>
          </a:p>
          <a:p>
            <a:pPr marL="0" lvl="1" indent="0" algn="just" eaLnBrk="1" hangingPunct="1">
              <a:spcBef>
                <a:spcPct val="0"/>
              </a:spcBef>
              <a:buNone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457200" lvl="1" indent="-457200" algn="just" eaLnBrk="1" hangingPunct="1">
              <a:spcBef>
                <a:spcPct val="0"/>
              </a:spcBef>
              <a:buFont typeface="+mj-lt"/>
              <a:buAutoNum type="arabicPeriod" startAt="2"/>
            </a:pPr>
            <a:r>
              <a:rPr lang="ru-RU" altLang="ru-RU" sz="2400" dirty="0">
                <a:solidFill>
                  <a:srgbClr val="000000"/>
                </a:solidFill>
              </a:rPr>
              <a:t>Применение методологий безопасной разработки программного обеспечения.</a:t>
            </a:r>
          </a:p>
          <a:p>
            <a:pPr marL="457200" lvl="1" indent="-457200" algn="just" eaLnBrk="1" hangingPunct="1">
              <a:spcBef>
                <a:spcPct val="0"/>
              </a:spcBef>
              <a:buFont typeface="+mj-lt"/>
              <a:buAutoNum type="arabicPeriod" startAt="2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457200" lvl="1" indent="-457200" algn="just" eaLnBrk="1" hangingPunct="1">
              <a:spcBef>
                <a:spcPct val="0"/>
              </a:spcBef>
              <a:buFont typeface="+mj-lt"/>
              <a:buAutoNum type="arabicPeriod" startAt="2"/>
            </a:pPr>
            <a:r>
              <a:rPr lang="ru-RU" altLang="ru-RU" sz="2400" dirty="0">
                <a:solidFill>
                  <a:srgbClr val="000000"/>
                </a:solidFill>
              </a:rPr>
              <a:t>Применение новых технологий обработки накопленной информации с целью снижения затрат и увеличения качественных характеристик производственной деятельности предприятия.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Вызовы и перспективные задачи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743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Снижение зависимости от импортных компонент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27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CD05B-63EF-4891-A83C-65C0892B573C}"/>
              </a:ext>
            </a:extLst>
          </p:cNvPr>
          <p:cNvSpPr txBox="1"/>
          <p:nvPr/>
        </p:nvSpPr>
        <p:spPr>
          <a:xfrm>
            <a:off x="659999" y="713112"/>
            <a:ext cx="108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План мероприятий «дорожная карта» «Создание дополнительных условий для развития отрасли информационных технологий» (далее – «Дорожная карта»)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49E8C-33F0-4ADF-8B86-0B348EFFF049}"/>
              </a:ext>
            </a:extLst>
          </p:cNvPr>
          <p:cNvSpPr txBox="1"/>
          <p:nvPr/>
        </p:nvSpPr>
        <p:spPr>
          <a:xfrm>
            <a:off x="917621" y="2573500"/>
            <a:ext cx="18747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Уточнение процедуры включения ПО в </a:t>
            </a:r>
            <a:r>
              <a:rPr lang="ru-RU" sz="1000" b="1" dirty="0">
                <a:solidFill>
                  <a:srgbClr val="0070C0"/>
                </a:solidFill>
              </a:rPr>
              <a:t>единый Реестр</a:t>
            </a:r>
          </a:p>
          <a:p>
            <a:endParaRPr lang="ru-RU" sz="1000" dirty="0"/>
          </a:p>
          <a:p>
            <a:r>
              <a:rPr lang="ru-RU" sz="1000" dirty="0"/>
              <a:t>Федеральный закон – </a:t>
            </a:r>
            <a:r>
              <a:rPr lang="ru-RU" sz="1000" b="1" dirty="0">
                <a:solidFill>
                  <a:srgbClr val="0070C0"/>
                </a:solidFill>
              </a:rPr>
              <a:t>ограничение</a:t>
            </a:r>
            <a:r>
              <a:rPr lang="ru-RU" sz="1000" dirty="0"/>
              <a:t> на приобретение </a:t>
            </a:r>
            <a:r>
              <a:rPr lang="ru-RU" sz="1000" b="1" dirty="0">
                <a:solidFill>
                  <a:srgbClr val="0070C0"/>
                </a:solidFill>
              </a:rPr>
              <a:t>иностранного</a:t>
            </a:r>
            <a:r>
              <a:rPr lang="ru-RU" sz="1000" dirty="0"/>
              <a:t> программного обеспечения (</a:t>
            </a:r>
            <a:r>
              <a:rPr lang="ru-RU" sz="1000" b="1" dirty="0">
                <a:solidFill>
                  <a:srgbClr val="0070C0"/>
                </a:solidFill>
              </a:rPr>
              <a:t>ПО</a:t>
            </a:r>
            <a:r>
              <a:rPr lang="ru-RU" sz="1000" dirty="0"/>
              <a:t>) и программно-аппаратных комплексов (</a:t>
            </a:r>
            <a:r>
              <a:rPr lang="ru-RU" sz="1000" b="1" dirty="0">
                <a:solidFill>
                  <a:srgbClr val="0070C0"/>
                </a:solidFill>
              </a:rPr>
              <a:t>ПАК</a:t>
            </a:r>
            <a:r>
              <a:rPr lang="ru-RU" sz="1000" dirty="0"/>
              <a:t>) </a:t>
            </a:r>
            <a:r>
              <a:rPr lang="ru-RU" sz="1000" b="1" dirty="0">
                <a:solidFill>
                  <a:srgbClr val="FF0000"/>
                </a:solidFill>
              </a:rPr>
              <a:t>для отдельных видов юридических лиц</a:t>
            </a:r>
          </a:p>
          <a:p>
            <a:endParaRPr lang="ru-RU" sz="1000" dirty="0"/>
          </a:p>
          <a:p>
            <a:r>
              <a:rPr lang="ru-RU" sz="1000" dirty="0"/>
              <a:t>Предложения Минцифры по внесению </a:t>
            </a:r>
            <a:r>
              <a:rPr lang="ru-RU" sz="1000" b="1" dirty="0">
                <a:solidFill>
                  <a:srgbClr val="0070C0"/>
                </a:solidFill>
              </a:rPr>
              <a:t>изменений в НК РФ </a:t>
            </a:r>
            <a:r>
              <a:rPr lang="ru-RU" sz="1000" dirty="0"/>
              <a:t>по стимулированию приобретения </a:t>
            </a:r>
            <a:r>
              <a:rPr lang="ru-RU" sz="1000" b="1" dirty="0">
                <a:solidFill>
                  <a:srgbClr val="0070C0"/>
                </a:solidFill>
              </a:rPr>
              <a:t>ПО и ПАК из единых Реестров</a:t>
            </a:r>
          </a:p>
          <a:p>
            <a:endParaRPr lang="ru-RU" sz="1000" b="1" dirty="0">
              <a:solidFill>
                <a:srgbClr val="0070C0"/>
              </a:solidFill>
            </a:endParaRPr>
          </a:p>
          <a:p>
            <a:r>
              <a:rPr lang="ru-RU" sz="1000" dirty="0"/>
              <a:t>Указ президента РФ – </a:t>
            </a:r>
          </a:p>
          <a:p>
            <a:r>
              <a:rPr lang="ru-RU" sz="1000" dirty="0"/>
              <a:t>о преимущественном использовании российского ПО и ПАК </a:t>
            </a:r>
            <a:r>
              <a:rPr lang="ru-RU" sz="1000" b="1" dirty="0">
                <a:solidFill>
                  <a:srgbClr val="0070C0"/>
                </a:solidFill>
              </a:rPr>
              <a:t>на объектах критичной информационной инфраструктуры</a:t>
            </a:r>
          </a:p>
          <a:p>
            <a:endParaRPr lang="ru-RU" sz="1000" dirty="0"/>
          </a:p>
          <a:p>
            <a:endParaRPr lang="ru-RU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189FF-B08A-42ED-A8AF-02B2B6B483FF}"/>
              </a:ext>
            </a:extLst>
          </p:cNvPr>
          <p:cNvSpPr txBox="1"/>
          <p:nvPr/>
        </p:nvSpPr>
        <p:spPr>
          <a:xfrm>
            <a:off x="3050822" y="2901379"/>
            <a:ext cx="14919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Федеральный закон – </a:t>
            </a:r>
            <a:r>
              <a:rPr lang="ru-RU" sz="1000" b="1" dirty="0">
                <a:solidFill>
                  <a:srgbClr val="0070C0"/>
                </a:solidFill>
              </a:rPr>
              <a:t>создание центров тестирования </a:t>
            </a:r>
            <a:r>
              <a:rPr lang="ru-RU" sz="1000" dirty="0"/>
              <a:t>для оценки совместимости российского ПО и отечественной радиоэлектронной продукции (РЭП)</a:t>
            </a:r>
          </a:p>
          <a:p>
            <a:endParaRPr lang="ru-RU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7D90E-6A05-490D-B40E-9803149DFF35}"/>
              </a:ext>
            </a:extLst>
          </p:cNvPr>
          <p:cNvSpPr txBox="1"/>
          <p:nvPr/>
        </p:nvSpPr>
        <p:spPr>
          <a:xfrm>
            <a:off x="7222997" y="2932243"/>
            <a:ext cx="16563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Изменение в Федеральный проект «Цифровые технологии» - стимулирование участия отечественных компаний (разработчиков) в </a:t>
            </a:r>
            <a:r>
              <a:rPr lang="ru-RU" sz="1000" b="1" dirty="0">
                <a:solidFill>
                  <a:srgbClr val="0070C0"/>
                </a:solidFill>
              </a:rPr>
              <a:t>международных</a:t>
            </a:r>
            <a:r>
              <a:rPr lang="ru-RU" sz="1000" dirty="0"/>
              <a:t> </a:t>
            </a:r>
            <a:r>
              <a:rPr lang="en-US" sz="1000" b="1" dirty="0">
                <a:solidFill>
                  <a:srgbClr val="0070C0"/>
                </a:solidFill>
              </a:rPr>
              <a:t>open-source</a:t>
            </a:r>
            <a:r>
              <a:rPr lang="en-US" sz="1000" dirty="0"/>
              <a:t> </a:t>
            </a:r>
            <a:r>
              <a:rPr lang="ru-RU" sz="1000" dirty="0"/>
              <a:t>альянсах, создание </a:t>
            </a:r>
            <a:r>
              <a:rPr lang="ru-RU" sz="1000" b="1" dirty="0">
                <a:solidFill>
                  <a:srgbClr val="0070C0"/>
                </a:solidFill>
              </a:rPr>
              <a:t>российской </a:t>
            </a:r>
            <a:r>
              <a:rPr lang="en-US" sz="1000" b="1" dirty="0">
                <a:solidFill>
                  <a:srgbClr val="0070C0"/>
                </a:solidFill>
              </a:rPr>
              <a:t>open-source </a:t>
            </a:r>
            <a:r>
              <a:rPr lang="ru-RU" sz="1000" b="1" dirty="0">
                <a:solidFill>
                  <a:srgbClr val="0070C0"/>
                </a:solidFill>
              </a:rPr>
              <a:t>платформы</a:t>
            </a:r>
          </a:p>
          <a:p>
            <a:endParaRPr lang="ru-RU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46BAEE-09B1-42BB-8162-FE3988D53BD2}"/>
              </a:ext>
            </a:extLst>
          </p:cNvPr>
          <p:cNvSpPr txBox="1"/>
          <p:nvPr/>
        </p:nvSpPr>
        <p:spPr>
          <a:xfrm>
            <a:off x="4612858" y="3086131"/>
            <a:ext cx="16563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Завершение к 2023 году поэтапной </a:t>
            </a:r>
            <a:r>
              <a:rPr lang="ru-RU" sz="1000" b="1" dirty="0">
                <a:solidFill>
                  <a:srgbClr val="0070C0"/>
                </a:solidFill>
              </a:rPr>
              <a:t>замены зарубежного офисного ПО и операционных систем </a:t>
            </a:r>
            <a:r>
              <a:rPr lang="ru-RU" sz="1000" dirty="0"/>
              <a:t>в органах власти на российские решения</a:t>
            </a:r>
          </a:p>
          <a:p>
            <a:endParaRPr lang="ru-RU" sz="1000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514D64A-3AED-4E3A-9CA2-918ACEFEF4E2}"/>
              </a:ext>
            </a:extLst>
          </p:cNvPr>
          <p:cNvGrpSpPr/>
          <p:nvPr/>
        </p:nvGrpSpPr>
        <p:grpSpPr>
          <a:xfrm>
            <a:off x="566980" y="1743634"/>
            <a:ext cx="11251448" cy="4219577"/>
            <a:chOff x="566980" y="2096989"/>
            <a:chExt cx="11251448" cy="4219577"/>
          </a:xfrm>
        </p:grpSpPr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8E0B82C4-E701-483B-92D0-F347C63B396E}"/>
                </a:ext>
              </a:extLst>
            </p:cNvPr>
            <p:cNvCxnSpPr/>
            <p:nvPr/>
          </p:nvCxnSpPr>
          <p:spPr>
            <a:xfrm flipV="1">
              <a:off x="2758859" y="2444261"/>
              <a:ext cx="10662" cy="38100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29983530-1A3A-4D20-A826-CA801A2CDF36}"/>
                </a:ext>
              </a:extLst>
            </p:cNvPr>
            <p:cNvCxnSpPr/>
            <p:nvPr/>
          </p:nvCxnSpPr>
          <p:spPr>
            <a:xfrm flipV="1">
              <a:off x="4412195" y="2432535"/>
              <a:ext cx="10662" cy="38100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9559486A-E86F-401A-91A2-AD9A360806BB}"/>
                </a:ext>
              </a:extLst>
            </p:cNvPr>
            <p:cNvCxnSpPr/>
            <p:nvPr/>
          </p:nvCxnSpPr>
          <p:spPr>
            <a:xfrm flipV="1">
              <a:off x="8850406" y="3048000"/>
              <a:ext cx="28954" cy="3181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96572DAD-B41B-404B-963A-726D4181F142}"/>
                </a:ext>
              </a:extLst>
            </p:cNvPr>
            <p:cNvGrpSpPr/>
            <p:nvPr/>
          </p:nvGrpSpPr>
          <p:grpSpPr>
            <a:xfrm>
              <a:off x="566980" y="2096989"/>
              <a:ext cx="11251448" cy="976615"/>
              <a:chOff x="566980" y="2096989"/>
              <a:chExt cx="11251448" cy="976615"/>
            </a:xfrm>
          </p:grpSpPr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F8177770-364E-49E6-9C50-60A71ACD3D1F}"/>
                  </a:ext>
                </a:extLst>
              </p:cNvPr>
              <p:cNvGrpSpPr/>
              <p:nvPr/>
            </p:nvGrpSpPr>
            <p:grpSpPr>
              <a:xfrm>
                <a:off x="566980" y="2192215"/>
                <a:ext cx="11251448" cy="881389"/>
                <a:chOff x="566980" y="2192215"/>
                <a:chExt cx="11251448" cy="881389"/>
              </a:xfrm>
            </p:grpSpPr>
            <p:cxnSp>
              <p:nvCxnSpPr>
                <p:cNvPr id="26" name="Прямая со стрелкой 25">
                  <a:extLst>
                    <a:ext uri="{FF2B5EF4-FFF2-40B4-BE49-F238E27FC236}">
                      <a16:creationId xmlns:a16="http://schemas.microsoft.com/office/drawing/2014/main" id="{A39EFF7F-2B4D-4D28-B393-DFC417A325B3}"/>
                    </a:ext>
                  </a:extLst>
                </p:cNvPr>
                <p:cNvCxnSpPr/>
                <p:nvPr/>
              </p:nvCxnSpPr>
              <p:spPr>
                <a:xfrm>
                  <a:off x="879230" y="2432538"/>
                  <a:ext cx="10872000" cy="0"/>
                </a:xfrm>
                <a:prstGeom prst="straightConnector1">
                  <a:avLst/>
                </a:prstGeom>
                <a:ln w="762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170AD278-7C6D-486F-874B-206AD1C04701}"/>
                    </a:ext>
                  </a:extLst>
                </p:cNvPr>
                <p:cNvCxnSpPr/>
                <p:nvPr/>
              </p:nvCxnSpPr>
              <p:spPr>
                <a:xfrm>
                  <a:off x="879230" y="2192215"/>
                  <a:ext cx="0" cy="504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Прямая соединительная линия 27">
                  <a:extLst>
                    <a:ext uri="{FF2B5EF4-FFF2-40B4-BE49-F238E27FC236}">
                      <a16:creationId xmlns:a16="http://schemas.microsoft.com/office/drawing/2014/main" id="{57D7920E-1A7E-4C66-88B5-BF3FC5FE637C}"/>
                    </a:ext>
                  </a:extLst>
                </p:cNvPr>
                <p:cNvCxnSpPr/>
                <p:nvPr/>
              </p:nvCxnSpPr>
              <p:spPr>
                <a:xfrm>
                  <a:off x="3716214" y="2225108"/>
                  <a:ext cx="0" cy="504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A69EA18B-B900-4055-883C-3F636DFC1794}"/>
                    </a:ext>
                  </a:extLst>
                </p:cNvPr>
                <p:cNvCxnSpPr/>
                <p:nvPr/>
              </p:nvCxnSpPr>
              <p:spPr>
                <a:xfrm>
                  <a:off x="6184197" y="2225107"/>
                  <a:ext cx="0" cy="504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Прямая соединительная линия 29">
                  <a:extLst>
                    <a:ext uri="{FF2B5EF4-FFF2-40B4-BE49-F238E27FC236}">
                      <a16:creationId xmlns:a16="http://schemas.microsoft.com/office/drawing/2014/main" id="{74C9B50B-3AAF-4217-8E75-79A889E74B3A}"/>
                    </a:ext>
                  </a:extLst>
                </p:cNvPr>
                <p:cNvCxnSpPr/>
                <p:nvPr/>
              </p:nvCxnSpPr>
              <p:spPr>
                <a:xfrm>
                  <a:off x="8845061" y="2243589"/>
                  <a:ext cx="0" cy="504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Прямая соединительная линия 30">
                  <a:extLst>
                    <a:ext uri="{FF2B5EF4-FFF2-40B4-BE49-F238E27FC236}">
                      <a16:creationId xmlns:a16="http://schemas.microsoft.com/office/drawing/2014/main" id="{2FDC13A3-3452-4052-A830-5AF4694DB927}"/>
                    </a:ext>
                  </a:extLst>
                </p:cNvPr>
                <p:cNvCxnSpPr/>
                <p:nvPr/>
              </p:nvCxnSpPr>
              <p:spPr>
                <a:xfrm>
                  <a:off x="11457924" y="2201660"/>
                  <a:ext cx="0" cy="504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5FED813-C8B0-4B46-BFD9-D7C6F827506A}"/>
                    </a:ext>
                  </a:extLst>
                </p:cNvPr>
                <p:cNvSpPr txBox="1"/>
                <p:nvPr/>
              </p:nvSpPr>
              <p:spPr>
                <a:xfrm>
                  <a:off x="566980" y="2659802"/>
                  <a:ext cx="6527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b="1" dirty="0">
                      <a:solidFill>
                        <a:srgbClr val="0070C0"/>
                      </a:solidFill>
                    </a:rPr>
                    <a:t>2021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B91BDA6-FB71-4825-BE2A-2E798E50C953}"/>
                    </a:ext>
                  </a:extLst>
                </p:cNvPr>
                <p:cNvSpPr txBox="1"/>
                <p:nvPr/>
              </p:nvSpPr>
              <p:spPr>
                <a:xfrm>
                  <a:off x="3358732" y="2687583"/>
                  <a:ext cx="6527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b="1" dirty="0">
                      <a:solidFill>
                        <a:srgbClr val="0070C0"/>
                      </a:solidFill>
                    </a:rPr>
                    <a:t>2022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0B6C992-6936-48F8-9387-50B21B2C63BC}"/>
                    </a:ext>
                  </a:extLst>
                </p:cNvPr>
                <p:cNvSpPr txBox="1"/>
                <p:nvPr/>
              </p:nvSpPr>
              <p:spPr>
                <a:xfrm>
                  <a:off x="5893308" y="2671835"/>
                  <a:ext cx="6527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b="1" dirty="0">
                      <a:solidFill>
                        <a:srgbClr val="0070C0"/>
                      </a:solidFill>
                    </a:rPr>
                    <a:t>2023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6E1BF69-1CE0-45A3-A430-9ACF66CD89FE}"/>
                    </a:ext>
                  </a:extLst>
                </p:cNvPr>
                <p:cNvSpPr txBox="1"/>
                <p:nvPr/>
              </p:nvSpPr>
              <p:spPr>
                <a:xfrm>
                  <a:off x="8538511" y="2704272"/>
                  <a:ext cx="6527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b="1" dirty="0">
                      <a:solidFill>
                        <a:srgbClr val="0070C0"/>
                      </a:solidFill>
                    </a:rPr>
                    <a:t>2024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9D29157-7162-4A35-B94F-64BBC7AAC65F}"/>
                    </a:ext>
                  </a:extLst>
                </p:cNvPr>
                <p:cNvSpPr txBox="1"/>
                <p:nvPr/>
              </p:nvSpPr>
              <p:spPr>
                <a:xfrm>
                  <a:off x="11165685" y="2635661"/>
                  <a:ext cx="6527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b="1" dirty="0">
                      <a:solidFill>
                        <a:srgbClr val="0070C0"/>
                      </a:solidFill>
                    </a:rPr>
                    <a:t>2025</a:t>
                  </a: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6AB316B-3CC6-466C-8CC2-646BBD65C7D5}"/>
                  </a:ext>
                </a:extLst>
              </p:cNvPr>
              <p:cNvSpPr txBox="1"/>
              <p:nvPr/>
            </p:nvSpPr>
            <p:spPr>
              <a:xfrm>
                <a:off x="2091572" y="2096989"/>
                <a:ext cx="12950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b="1" dirty="0">
                    <a:solidFill>
                      <a:srgbClr val="0070C0"/>
                    </a:solidFill>
                  </a:rPr>
                  <a:t>сентябрь-декабрь</a:t>
                </a:r>
              </a:p>
              <a:p>
                <a:endParaRPr lang="ru-RU" sz="10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8F959B-268D-42F1-B05C-26A110FACA81}"/>
                  </a:ext>
                </a:extLst>
              </p:cNvPr>
              <p:cNvSpPr txBox="1"/>
              <p:nvPr/>
            </p:nvSpPr>
            <p:spPr>
              <a:xfrm>
                <a:off x="4163730" y="2096989"/>
                <a:ext cx="5272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000" b="1" dirty="0">
                    <a:solidFill>
                      <a:srgbClr val="0070C0"/>
                    </a:solidFill>
                  </a:rPr>
                  <a:t>март</a:t>
                </a:r>
              </a:p>
              <a:p>
                <a:endParaRPr lang="ru-RU" sz="1000" dirty="0"/>
              </a:p>
            </p:txBody>
          </p:sp>
        </p:grp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70B3B0A7-5911-444F-B033-325019AD025A}"/>
                </a:ext>
              </a:extLst>
            </p:cNvPr>
            <p:cNvCxnSpPr/>
            <p:nvPr/>
          </p:nvCxnSpPr>
          <p:spPr>
            <a:xfrm flipH="1" flipV="1">
              <a:off x="6188864" y="3064750"/>
              <a:ext cx="10227" cy="3177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DA1BE7AB-721D-4DC4-B7B8-8DD9D85D8311}"/>
                </a:ext>
              </a:extLst>
            </p:cNvPr>
            <p:cNvCxnSpPr/>
            <p:nvPr/>
          </p:nvCxnSpPr>
          <p:spPr>
            <a:xfrm flipH="1" flipV="1">
              <a:off x="11460545" y="2993071"/>
              <a:ext cx="8068" cy="33234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F7222CD-30FA-4026-B55E-FDF1CF7C5182}"/>
              </a:ext>
            </a:extLst>
          </p:cNvPr>
          <p:cNvSpPr txBox="1"/>
          <p:nvPr/>
        </p:nvSpPr>
        <p:spPr>
          <a:xfrm>
            <a:off x="9804589" y="2880166"/>
            <a:ext cx="1656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solidFill>
                  <a:srgbClr val="0070C0"/>
                </a:solidFill>
              </a:rPr>
              <a:t>70% </a:t>
            </a:r>
            <a:r>
              <a:rPr lang="en-US" sz="1000" b="1" dirty="0">
                <a:solidFill>
                  <a:srgbClr val="0070C0"/>
                </a:solidFill>
              </a:rPr>
              <a:t>IT-</a:t>
            </a:r>
            <a:r>
              <a:rPr lang="ru-RU" sz="1000" b="1" dirty="0">
                <a:solidFill>
                  <a:srgbClr val="0070C0"/>
                </a:solidFill>
              </a:rPr>
              <a:t>бюджетов </a:t>
            </a:r>
            <a:r>
              <a:rPr lang="ru-RU" sz="1000" dirty="0"/>
              <a:t>должно быть потрачено </a:t>
            </a:r>
            <a:r>
              <a:rPr lang="ru-RU" sz="1000" b="1" dirty="0">
                <a:solidFill>
                  <a:srgbClr val="0070C0"/>
                </a:solidFill>
              </a:rPr>
              <a:t>на российские продукты</a:t>
            </a:r>
          </a:p>
          <a:p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373311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320004"/>
            <a:ext cx="12191999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Компонентный уровень объектов ИТ-инфраструктуры должен обеспечивать бесшовную интеграцию и встраиваемость в существующую экосистему. Заявленная совместимость компонентов отечественного производства не гарантирует реальной прямой интеграции без доработок.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На рынке РФ отсутствуют аналоги импортных решений обеспечивающие корпоративный уровень внедрения с должным уровнем технической поддержки, объемами серийного производства.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Отечественные аппаратные решения значительно дороже импортных аналогов.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Отсутствуют крупномасштабные внедрения отечественных решений в реальном промышленном секторе производства.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Проблемы импортозамещения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031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Методологии безопасной разработки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29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E75ECD-8C62-47A0-B06B-95D8A6F7DFA4}"/>
              </a:ext>
            </a:extLst>
          </p:cNvPr>
          <p:cNvSpPr/>
          <p:nvPr/>
        </p:nvSpPr>
        <p:spPr>
          <a:xfrm>
            <a:off x="838200" y="1613019"/>
            <a:ext cx="5065518" cy="363196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chemeClr val="tx1"/>
                </a:solidFill>
              </a:rPr>
              <a:t>Стандарты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245C50B-2155-498C-934D-7D2DD14E6F72}"/>
              </a:ext>
            </a:extLst>
          </p:cNvPr>
          <p:cNvSpPr/>
          <p:nvPr/>
        </p:nvSpPr>
        <p:spPr>
          <a:xfrm>
            <a:off x="6255521" y="1613019"/>
            <a:ext cx="5098279" cy="363196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Методологии</a:t>
            </a:r>
          </a:p>
        </p:txBody>
      </p:sp>
      <p:sp>
        <p:nvSpPr>
          <p:cNvPr id="12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8BDC1027-DF0C-41A5-A611-EBFA01043997}"/>
              </a:ext>
            </a:extLst>
          </p:cNvPr>
          <p:cNvSpPr/>
          <p:nvPr/>
        </p:nvSpPr>
        <p:spPr>
          <a:xfrm>
            <a:off x="945552" y="2046366"/>
            <a:ext cx="2335316" cy="435835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Common criteria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8528DE0D-1AAC-4828-A6AD-0ED80FECD38E}"/>
              </a:ext>
            </a:extLst>
          </p:cNvPr>
          <p:cNvSpPr/>
          <p:nvPr/>
        </p:nvSpPr>
        <p:spPr>
          <a:xfrm>
            <a:off x="1572572" y="2438026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NIST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B3877EF3-1351-4A27-9F0F-B9108486A341}"/>
              </a:ext>
            </a:extLst>
          </p:cNvPr>
          <p:cNvSpPr/>
          <p:nvPr/>
        </p:nvSpPr>
        <p:spPr>
          <a:xfrm>
            <a:off x="1932028" y="2838233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BS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с двумя скругленными противолежащими углами 8">
            <a:extLst>
              <a:ext uri="{FF2B5EF4-FFF2-40B4-BE49-F238E27FC236}">
                <a16:creationId xmlns:a16="http://schemas.microsoft.com/office/drawing/2014/main" id="{B9888E5F-67BC-46C0-A741-3AF8EFC31323}"/>
              </a:ext>
            </a:extLst>
          </p:cNvPr>
          <p:cNvSpPr/>
          <p:nvPr/>
        </p:nvSpPr>
        <p:spPr>
          <a:xfrm>
            <a:off x="2368218" y="3229203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ISO/IEC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с двумя скругленными противолежащими углами 9">
            <a:extLst>
              <a:ext uri="{FF2B5EF4-FFF2-40B4-BE49-F238E27FC236}">
                <a16:creationId xmlns:a16="http://schemas.microsoft.com/office/drawing/2014/main" id="{2C423DC0-89E2-4FA3-8611-4BA6D94776C0}"/>
              </a:ext>
            </a:extLst>
          </p:cNvPr>
          <p:cNvSpPr/>
          <p:nvPr/>
        </p:nvSpPr>
        <p:spPr>
          <a:xfrm>
            <a:off x="2859955" y="3638645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ГОСТы</a:t>
            </a:r>
          </a:p>
        </p:txBody>
      </p:sp>
      <p:sp>
        <p:nvSpPr>
          <p:cNvPr id="18" name="Прямоугольник с двумя скругленными противолежащими углами 10">
            <a:extLst>
              <a:ext uri="{FF2B5EF4-FFF2-40B4-BE49-F238E27FC236}">
                <a16:creationId xmlns:a16="http://schemas.microsoft.com/office/drawing/2014/main" id="{40CBB60E-271E-4DDD-AED1-9056ED9C679D}"/>
              </a:ext>
            </a:extLst>
          </p:cNvPr>
          <p:cNvSpPr/>
          <p:nvPr/>
        </p:nvSpPr>
        <p:spPr>
          <a:xfrm>
            <a:off x="3211758" y="4048087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РС БР ИББС</a:t>
            </a:r>
          </a:p>
        </p:txBody>
      </p:sp>
      <p:sp>
        <p:nvSpPr>
          <p:cNvPr id="19" name="Прямоугольник с двумя скругленными противолежащими углами 11">
            <a:extLst>
              <a:ext uri="{FF2B5EF4-FFF2-40B4-BE49-F238E27FC236}">
                <a16:creationId xmlns:a16="http://schemas.microsoft.com/office/drawing/2014/main" id="{FB821AE0-4C41-4939-A570-D219C6D2F327}"/>
              </a:ext>
            </a:extLst>
          </p:cNvPr>
          <p:cNvSpPr/>
          <p:nvPr/>
        </p:nvSpPr>
        <p:spPr>
          <a:xfrm>
            <a:off x="6440679" y="2444125"/>
            <a:ext cx="2040305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Microsoft SDL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с двумя скругленными противолежащими углами 12">
            <a:extLst>
              <a:ext uri="{FF2B5EF4-FFF2-40B4-BE49-F238E27FC236}">
                <a16:creationId xmlns:a16="http://schemas.microsoft.com/office/drawing/2014/main" id="{2FC30606-CE93-4027-A918-F10FA6D8C83F}"/>
              </a:ext>
            </a:extLst>
          </p:cNvPr>
          <p:cNvSpPr/>
          <p:nvPr/>
        </p:nvSpPr>
        <p:spPr>
          <a:xfrm>
            <a:off x="6986187" y="3176195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Cisco SDL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с двумя скругленными противолежащими углами 13">
            <a:extLst>
              <a:ext uri="{FF2B5EF4-FFF2-40B4-BE49-F238E27FC236}">
                <a16:creationId xmlns:a16="http://schemas.microsoft.com/office/drawing/2014/main" id="{583373BA-4356-4FE6-A356-F191A9ED7804}"/>
              </a:ext>
            </a:extLst>
          </p:cNvPr>
          <p:cNvSpPr/>
          <p:nvPr/>
        </p:nvSpPr>
        <p:spPr>
          <a:xfrm>
            <a:off x="8789349" y="1914258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</a:rPr>
              <a:t>DevSecOps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5E1C4CB9-D77A-4F08-AE84-C947CE8C366B}"/>
              </a:ext>
            </a:extLst>
          </p:cNvPr>
          <p:cNvSpPr/>
          <p:nvPr/>
        </p:nvSpPr>
        <p:spPr>
          <a:xfrm>
            <a:off x="9079550" y="3537957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SSDF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14DFC3D-215D-4007-A1BC-155A47C43FC8}"/>
              </a:ext>
            </a:extLst>
          </p:cNvPr>
          <p:cNvSpPr/>
          <p:nvPr/>
        </p:nvSpPr>
        <p:spPr>
          <a:xfrm>
            <a:off x="6677823" y="4059984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SAMM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2B895A79-D3E4-4D9F-AE26-9C4C2B7378DF}"/>
              </a:ext>
            </a:extLst>
          </p:cNvPr>
          <p:cNvSpPr/>
          <p:nvPr/>
        </p:nvSpPr>
        <p:spPr>
          <a:xfrm>
            <a:off x="8789349" y="4545683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BSIMM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с двумя скругленными противолежащими углами 17">
            <a:extLst>
              <a:ext uri="{FF2B5EF4-FFF2-40B4-BE49-F238E27FC236}">
                <a16:creationId xmlns:a16="http://schemas.microsoft.com/office/drawing/2014/main" id="{0F763E90-872B-4C1D-8650-E0EFA8E3D167}"/>
              </a:ext>
            </a:extLst>
          </p:cNvPr>
          <p:cNvSpPr/>
          <p:nvPr/>
        </p:nvSpPr>
        <p:spPr>
          <a:xfrm>
            <a:off x="9370107" y="2723267"/>
            <a:ext cx="1803162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CLASP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6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DA93A9F5-8EAB-46DC-B288-D18DE94193F3}"/>
              </a:ext>
            </a:extLst>
          </p:cNvPr>
          <p:cNvSpPr/>
          <p:nvPr/>
        </p:nvSpPr>
        <p:spPr>
          <a:xfrm>
            <a:off x="3592403" y="4439056"/>
            <a:ext cx="2311315" cy="452927"/>
          </a:xfrm>
          <a:prstGeom prst="round2DiagRect">
            <a:avLst/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Отдельные НПА</a:t>
            </a:r>
          </a:p>
        </p:txBody>
      </p:sp>
    </p:spTree>
    <p:extLst>
      <p:ext uri="{BB962C8B-B14F-4D97-AF65-F5344CB8AC3E}">
        <p14:creationId xmlns:p14="http://schemas.microsoft.com/office/powerpoint/2010/main" val="3956422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Методологии безопасной разработки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30</a:t>
            </a:fld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44D2B22-8835-4444-8FC4-DE7AEE734334}"/>
              </a:ext>
            </a:extLst>
          </p:cNvPr>
          <p:cNvSpPr/>
          <p:nvPr/>
        </p:nvSpPr>
        <p:spPr>
          <a:xfrm>
            <a:off x="4677294" y="2169623"/>
            <a:ext cx="2793077" cy="14574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ГОСТ Р 56939-2016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Разработка безопасного ПО. Общие требования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2DCD99F-15B5-4BDC-BE65-B524FD4BC1DB}"/>
              </a:ext>
            </a:extLst>
          </p:cNvPr>
          <p:cNvSpPr/>
          <p:nvPr/>
        </p:nvSpPr>
        <p:spPr>
          <a:xfrm>
            <a:off x="257693" y="773083"/>
            <a:ext cx="3311238" cy="1330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ГОСТ Р ИСО/МЭК 15408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Критерии оценки безопасности ИТ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0E26334-D003-4360-9A02-3281E3CF31D3}"/>
              </a:ext>
            </a:extLst>
          </p:cNvPr>
          <p:cNvSpPr/>
          <p:nvPr/>
        </p:nvSpPr>
        <p:spPr>
          <a:xfrm>
            <a:off x="8634153" y="739831"/>
            <a:ext cx="3255820" cy="1330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ГОСТ Р ИСО/МЭК 27001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СМИБ. Требования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397C00-977E-464E-A554-AE24E6750CFC}"/>
              </a:ext>
            </a:extLst>
          </p:cNvPr>
          <p:cNvSpPr/>
          <p:nvPr/>
        </p:nvSpPr>
        <p:spPr>
          <a:xfrm>
            <a:off x="257693" y="4640405"/>
            <a:ext cx="3438697" cy="1330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ГОСТ Р ИСО/МЭК 12207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Процессы ЖЦ программных средств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34C6655-778E-4A0F-9AB3-A0C526F7C31D}"/>
              </a:ext>
            </a:extLst>
          </p:cNvPr>
          <p:cNvSpPr/>
          <p:nvPr/>
        </p:nvSpPr>
        <p:spPr>
          <a:xfrm>
            <a:off x="8589819" y="4628886"/>
            <a:ext cx="3344488" cy="1330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ГОСТ Р ИСО/МЭК 27034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Безопасность приложений</a:t>
            </a:r>
          </a:p>
        </p:txBody>
      </p:sp>
      <p:cxnSp>
        <p:nvCxnSpPr>
          <p:cNvPr id="32" name="Соединительная линия уступом 11">
            <a:extLst>
              <a:ext uri="{FF2B5EF4-FFF2-40B4-BE49-F238E27FC236}">
                <a16:creationId xmlns:a16="http://schemas.microsoft.com/office/drawing/2014/main" id="{80E9A331-8D7E-4F9D-8D7C-652108096CCF}"/>
              </a:ext>
            </a:extLst>
          </p:cNvPr>
          <p:cNvCxnSpPr>
            <a:stCxn id="27" idx="1"/>
            <a:endCxn id="28" idx="2"/>
          </p:cNvCxnSpPr>
          <p:nvPr/>
        </p:nvCxnSpPr>
        <p:spPr>
          <a:xfrm rot="10800000">
            <a:off x="1913312" y="2103121"/>
            <a:ext cx="2763982" cy="7952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ная линия уступом 15">
            <a:extLst>
              <a:ext uri="{FF2B5EF4-FFF2-40B4-BE49-F238E27FC236}">
                <a16:creationId xmlns:a16="http://schemas.microsoft.com/office/drawing/2014/main" id="{8BB36457-E892-4F3E-AE59-E109BF5B61A4}"/>
              </a:ext>
            </a:extLst>
          </p:cNvPr>
          <p:cNvCxnSpPr>
            <a:stCxn id="27" idx="0"/>
            <a:endCxn id="29" idx="1"/>
          </p:cNvCxnSpPr>
          <p:nvPr/>
        </p:nvCxnSpPr>
        <p:spPr>
          <a:xfrm rot="5400000" flipH="1" flipV="1">
            <a:off x="6971607" y="507077"/>
            <a:ext cx="764773" cy="25603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ная линия уступом 18">
            <a:extLst>
              <a:ext uri="{FF2B5EF4-FFF2-40B4-BE49-F238E27FC236}">
                <a16:creationId xmlns:a16="http://schemas.microsoft.com/office/drawing/2014/main" id="{F4A8B7E2-4632-4191-9E69-0AE1223118D5}"/>
              </a:ext>
            </a:extLst>
          </p:cNvPr>
          <p:cNvCxnSpPr>
            <a:stCxn id="27" idx="3"/>
            <a:endCxn id="31" idx="0"/>
          </p:cNvCxnSpPr>
          <p:nvPr/>
        </p:nvCxnSpPr>
        <p:spPr>
          <a:xfrm>
            <a:off x="7470371" y="2898347"/>
            <a:ext cx="2791692" cy="17305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ная линия уступом 21">
            <a:extLst>
              <a:ext uri="{FF2B5EF4-FFF2-40B4-BE49-F238E27FC236}">
                <a16:creationId xmlns:a16="http://schemas.microsoft.com/office/drawing/2014/main" id="{8FE065CF-F789-4E6F-959B-5B58CE476204}"/>
              </a:ext>
            </a:extLst>
          </p:cNvPr>
          <p:cNvCxnSpPr>
            <a:stCxn id="27" idx="2"/>
            <a:endCxn id="30" idx="3"/>
          </p:cNvCxnSpPr>
          <p:nvPr/>
        </p:nvCxnSpPr>
        <p:spPr>
          <a:xfrm rot="5400000">
            <a:off x="4045935" y="3277526"/>
            <a:ext cx="1678354" cy="23774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3">
            <a:extLst>
              <a:ext uri="{FF2B5EF4-FFF2-40B4-BE49-F238E27FC236}">
                <a16:creationId xmlns:a16="http://schemas.microsoft.com/office/drawing/2014/main" id="{3497B887-53AF-4B01-BBD8-1253BFACDF95}"/>
              </a:ext>
            </a:extLst>
          </p:cNvPr>
          <p:cNvSpPr txBox="1"/>
          <p:nvPr/>
        </p:nvSpPr>
        <p:spPr>
          <a:xfrm>
            <a:off x="1884217" y="2850284"/>
            <a:ext cx="2549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применяться для конкретизации или расширения компонентов доверия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44DBCF85-FFA6-4742-A11A-833D30816AE0}"/>
              </a:ext>
            </a:extLst>
          </p:cNvPr>
          <p:cNvSpPr txBox="1"/>
          <p:nvPr/>
        </p:nvSpPr>
        <p:spPr>
          <a:xfrm>
            <a:off x="3924993" y="5194839"/>
            <a:ext cx="3718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Предоставляет процессы и мероприятия по обеспечению безопасности для интеграции в ЖЦ</a:t>
            </a:r>
          </a:p>
        </p:txBody>
      </p:sp>
      <p:sp>
        <p:nvSpPr>
          <p:cNvPr id="38" name="TextBox 25">
            <a:extLst>
              <a:ext uri="{FF2B5EF4-FFF2-40B4-BE49-F238E27FC236}">
                <a16:creationId xmlns:a16="http://schemas.microsoft.com/office/drawing/2014/main" id="{A47A9F46-7BF2-4080-AE31-B6730193365E}"/>
              </a:ext>
            </a:extLst>
          </p:cNvPr>
          <p:cNvSpPr txBox="1"/>
          <p:nvPr/>
        </p:nvSpPr>
        <p:spPr>
          <a:xfrm>
            <a:off x="7407333" y="2960915"/>
            <a:ext cx="3009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являться источником для формирования мер и средств контроля и управления безопасностью ПО</a:t>
            </a: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4DFA5B5-3AC9-4217-A73D-7F945EEC186C}"/>
              </a:ext>
            </a:extLst>
          </p:cNvPr>
          <p:cNvSpPr txBox="1"/>
          <p:nvPr/>
        </p:nvSpPr>
        <p:spPr>
          <a:xfrm>
            <a:off x="6073832" y="785887"/>
            <a:ext cx="2549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Способствует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868155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2058668"/>
            <a:ext cx="1219199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Развитие систем построенных на основе математического моделирования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Создание моделей цифровых двойников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Применение искусственных нейронных сетей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Реализация систем по моделированию технологических процессов</a:t>
            </a: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360363" lvl="1" indent="-360363" algn="just" eaLnBrk="1" hangingPunct="1">
              <a:spcBef>
                <a:spcPct val="0"/>
              </a:spcBef>
              <a:buFont typeface="+mj-lt"/>
              <a:buAutoNum type="arabicPeriod"/>
            </a:pPr>
            <a:r>
              <a:rPr lang="ru-RU" altLang="ru-RU" sz="2400" dirty="0">
                <a:solidFill>
                  <a:srgbClr val="000000"/>
                </a:solidFill>
              </a:rPr>
              <a:t>Создание технологических тренажеров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Применение новых технологий обработки накопленной информации 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888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5"/>
          <p:cNvSpPr>
            <a:spLocks noChangeArrowheads="1"/>
          </p:cNvSpPr>
          <p:nvPr/>
        </p:nvSpPr>
        <p:spPr bwMode="auto">
          <a:xfrm>
            <a:off x="0" y="1135339"/>
            <a:ext cx="12191999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dirty="0">
                <a:solidFill>
                  <a:srgbClr val="000000"/>
                </a:solidFill>
              </a:rPr>
              <a:t>Требуемые направления деятельности: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Инженеры по настройке, обслуживанию и ремонту СВТ и КМТ;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Бизнес-аналитики;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Архитекторы систем автоматизации;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Разработчики программного обеспечения;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Администраторы СУБД;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Специалисты информационной безопасности.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ru-RU" altLang="ru-RU" sz="2400" dirty="0">
              <a:solidFill>
                <a:srgbClr val="000000"/>
              </a:solidFill>
            </a:endParaRPr>
          </a:p>
          <a:p>
            <a:pPr marL="0" lvl="1" indent="0" algn="just" eaLnBrk="1" hangingPunct="1">
              <a:spcBef>
                <a:spcPct val="0"/>
              </a:spcBef>
              <a:buNone/>
            </a:pPr>
            <a:r>
              <a:rPr lang="ru-RU" altLang="ru-RU" sz="2400" dirty="0">
                <a:solidFill>
                  <a:srgbClr val="000000"/>
                </a:solidFill>
              </a:rPr>
              <a:t>Ожидаемые навыки: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Базовый уровень знаний в ИТ-области в своем направлении деятельности;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Вектор в сторону постоянного саморазвития и совершенствования собственного уровня знаний;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Знание современных технологий и методик построения систем автоматизации;</a:t>
            </a:r>
          </a:p>
          <a:p>
            <a:pPr marL="342900" lvl="1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altLang="ru-RU" sz="2400" dirty="0">
                <a:solidFill>
                  <a:srgbClr val="000000"/>
                </a:solidFill>
              </a:rPr>
              <a:t>Широкий кругозор. </a:t>
            </a:r>
          </a:p>
        </p:txBody>
      </p:sp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25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1" y="17418"/>
            <a:ext cx="12192000" cy="51380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8EB9"/>
              </a:gs>
              <a:gs pos="50000">
                <a:srgbClr val="1B77A1"/>
              </a:gs>
              <a:gs pos="100000">
                <a:srgbClr val="008EB9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 обратной связи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0" y="544919"/>
            <a:ext cx="12192000" cy="2243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 flipV="1">
            <a:off x="0" y="19802"/>
            <a:ext cx="12191999" cy="0"/>
          </a:xfrm>
          <a:prstGeom prst="line">
            <a:avLst/>
          </a:prstGeom>
          <a:noFill/>
          <a:ln w="38100">
            <a:solidFill>
              <a:srgbClr val="1B7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 dirty="0"/>
          </a:p>
        </p:txBody>
      </p:sp>
      <p:pic>
        <p:nvPicPr>
          <p:cNvPr id="63" name="Рисунок 62"/>
          <p:cNvPicPr>
            <a:picLocks noChangeAspect="1"/>
          </p:cNvPicPr>
          <p:nvPr/>
        </p:nvPicPr>
        <p:blipFill rotWithShape="1">
          <a:blip r:embed="rId3" cstate="print"/>
          <a:srcRect l="1910" r="3592" b="2557"/>
          <a:stretch/>
        </p:blipFill>
        <p:spPr>
          <a:xfrm>
            <a:off x="-3361" y="51481"/>
            <a:ext cx="840559" cy="461639"/>
          </a:xfrm>
          <a:prstGeom prst="rect">
            <a:avLst/>
          </a:prstGeom>
        </p:spPr>
      </p:pic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175874" y="6556342"/>
            <a:ext cx="20161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8EB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ПАО «Сургутнефтегаз»</a:t>
            </a:r>
          </a:p>
        </p:txBody>
      </p: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8711511" y="6805643"/>
            <a:ext cx="3480489" cy="52357"/>
          </a:xfrm>
          <a:prstGeom prst="rect">
            <a:avLst/>
          </a:prstGeom>
          <a:gradFill rotWithShape="1">
            <a:gsLst>
              <a:gs pos="0">
                <a:srgbClr val="AD906B"/>
              </a:gs>
              <a:gs pos="100000">
                <a:srgbClr val="C2A27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B47DA-E0E4-4D16-92F5-0C372A4F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14B5-42A1-443B-895D-306D10F830D4}" type="slidenum">
              <a:rPr lang="ru-RU" smtClean="0"/>
              <a:t>33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83CECC-1067-4260-BC96-E43B4C9ADE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908" y="579293"/>
            <a:ext cx="6142182" cy="6142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8DF4EA-2E0E-4404-A916-30A8EE6C5EF6}"/>
              </a:ext>
            </a:extLst>
          </p:cNvPr>
          <p:cNvSpPr txBox="1"/>
          <p:nvPr/>
        </p:nvSpPr>
        <p:spPr>
          <a:xfrm>
            <a:off x="3596382" y="682182"/>
            <a:ext cx="5078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https://forms.gle/2TLsfyhJ2e4Q7XmQ8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386846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4062</TotalTime>
  <Words>2988</Words>
  <Application>Microsoft Office PowerPoint</Application>
  <PresentationFormat>Широкоэкранный</PresentationFormat>
  <Paragraphs>452</Paragraphs>
  <Slides>33</Slides>
  <Notes>32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Lato</vt:lpstr>
      <vt:lpstr>Wingdings</vt:lpstr>
      <vt:lpstr>Тема Office</vt:lpstr>
      <vt:lpstr>Точечный рисунок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Олегович Сидоркин</dc:creator>
  <cp:lastModifiedBy>Гончар Алексей Дмитриевич</cp:lastModifiedBy>
  <cp:revision>340</cp:revision>
  <cp:lastPrinted>2022-02-15T11:46:24Z</cp:lastPrinted>
  <dcterms:created xsi:type="dcterms:W3CDTF">2022-02-07T04:24:58Z</dcterms:created>
  <dcterms:modified xsi:type="dcterms:W3CDTF">2023-03-13T06:04:00Z</dcterms:modified>
</cp:coreProperties>
</file>